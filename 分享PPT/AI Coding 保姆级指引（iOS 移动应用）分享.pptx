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确认构成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4A90A4"/>
              </a:solidFill>
              <a:effectLst/>
            </c:spPr>
          </c:dPt>
          <c:dPt>
            <c:idx val="3"/>
            <c:bubble3D val="0"/>
            <c:spPr>
              <a:solidFill>
                <a:srgbClr val="8FB9C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FFFFF"/>
                      </a:solidFill>
                      <a:latin typeface="PingFang SC" panose="020B0400000000000000" pitchFamily="34" charset="-122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FFFFF"/>
                      </a:solidFill>
                      <a:latin typeface="PingFang SC" panose="020B0400000000000000" pitchFamily="34" charset="-122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FFFFF"/>
                      </a:solidFill>
                      <a:latin typeface="PingFang SC" panose="020B0400000000000000" pitchFamily="34" charset="-122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950" b="0" i="0" u="none" strike="noStrike" kern="1200" baseline="0">
                      <a:solidFill>
                        <a:srgbClr val="FFFFFF"/>
                      </a:solidFill>
                      <a:latin typeface="PingFang SC" panose="020B0400000000000000" pitchFamily="34" charset="-122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新功能 40</c:v>
                </c:pt>
                <c:pt idx="1">
                  <c:v>返工 23</c:v>
                </c:pt>
                <c:pt idx="2">
                  <c:v>缺陷修复 18</c:v>
                </c:pt>
                <c:pt idx="3">
                  <c:v>仅复查 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34155"/>
              </a:solidFill>
              <a:latin typeface="PingFang SC" panose="020B0400000000000000" pitchFamily="34" charset="-122"/>
              <a:ea typeface="+mn-ea"/>
              <a:cs typeface="PingFang SC" panose="020B0400000000000000" pitchFamily="34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2a6c26c-933a-4581-831a-f31c0d335be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工时（小时）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50" b="0" i="0" u="none" strike="noStrike" kern="1200" baseline="0">
                    <a:solidFill>
                      <a:srgbClr val="065A82"/>
                    </a:solidFill>
                    <a:latin typeface="PingFang SC" panose="020B0400000000000000" pitchFamily="34" charset="-122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其他功能</c:v>
                </c:pt>
                <c:pt idx="1">
                  <c:v>测试与稳定性</c:v>
                </c:pt>
                <c:pt idx="2">
                  <c:v>头像昵称与图标</c:v>
                </c:pt>
                <c:pt idx="3">
                  <c:v>内购与免费层</c:v>
                </c:pt>
                <c:pt idx="4">
                  <c:v>1.0.2 用户反馈</c:v>
                </c:pt>
                <c:pt idx="5">
                  <c:v>查询页</c:v>
                </c:pt>
                <c:pt idx="6">
                  <c:v>深色模式与兼容</c:v>
                </c:pt>
                <c:pt idx="7">
                  <c:v>设置与选项管理</c:v>
                </c:pt>
                <c:pt idx="8">
                  <c:v>录入页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</c:v>
                </c:pt>
                <c:pt idx="1">
                  <c:v>3.7</c:v>
                </c:pt>
                <c:pt idx="2">
                  <c:v>4.9</c:v>
                </c:pt>
                <c:pt idx="3">
                  <c:v>5.2</c:v>
                </c:pt>
                <c:pt idx="4">
                  <c:v>6.2</c:v>
                </c:pt>
                <c:pt idx="5">
                  <c:v>7.2</c:v>
                </c:pt>
                <c:pt idx="6">
                  <c:v>7.3</c:v>
                </c:pt>
                <c:pt idx="7">
                  <c:v>7.6</c:v>
                </c:pt>
                <c:pt idx="8">
                  <c:v>18.5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50" b="0" i="0" u="none" strike="noStrike" kern="1200" baseline="0">
                <a:solidFill>
                  <a:srgbClr val="334155"/>
                </a:solidFill>
                <a:latin typeface="PingFang SC" panose="020B0400000000000000" pitchFamily="34" charset="-122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6559317-ad86-42d1-b023-cf0fe54e398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25"/>
            <a:ext cx="9144000" cy="5143500"/>
          </a:xfrm>
          <a:prstGeom prst="rect">
            <a:avLst/>
          </a:prstGeom>
          <a:solidFill>
            <a:srgbClr val="111827">
              <a:alpha val="5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566928" y="53035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C7293">
              <a:alpha val="55000"/>
            </a:srgbClr>
          </a:solidFill>
          <a:ln w="12700">
            <a:solidFill>
              <a:srgbClr val="9FD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303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6EEF6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开源项目分享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0467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kern="0" spc="2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AI Coding 保姆级指引</a:t>
            </a:r>
            <a:endParaRPr lang="en-US" sz="2000" b="1" kern="0" spc="150" dirty="0">
              <a:solidFill>
                <a:schemeClr val="bg1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395855"/>
            <a:ext cx="804672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altLang="zh-CN" sz="2200" b="1" kern="0" spc="150" dirty="0">
                <a:solidFill>
                  <a:srgbClr val="9FD8E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（</a:t>
            </a:r>
            <a:r>
              <a:rPr lang="en-US" altLang="zh-CN" sz="2200" b="1" kern="0" spc="150" dirty="0">
                <a:solidFill>
                  <a:srgbClr val="9FD8E8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iOS 移动应用）</a:t>
            </a:r>
            <a:endParaRPr lang="en-US" altLang="zh-CN" sz="2200" b="1" kern="0" spc="150" dirty="0">
              <a:solidFill>
                <a:srgbClr val="9FD8E8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6F0F5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没有移动开发经验，也能把一款 App 送上 App Store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9502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C7293">
              <a:alpha val="55000"/>
            </a:srgbClr>
          </a:solidFill>
          <a:ln w="9525">
            <a:solidFill>
              <a:srgbClr val="9FD8E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95020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案例：份子钱银行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51176" y="3950208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C7293">
              <a:alpha val="55000"/>
            </a:srgbClr>
          </a:solidFill>
          <a:ln w="9525">
            <a:solidFill>
              <a:srgbClr val="9FD8E8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395020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业余时间约 3 个月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35424" y="3950208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C7293">
              <a:alpha val="55000"/>
            </a:srgbClr>
          </a:solidFill>
          <a:ln w="9525">
            <a:solidFill>
              <a:srgbClr val="9FD8E8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395020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Cursor 协作约 103 小时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6451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FA3C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分享人：fingalyang</a:t>
            </a:r>
            <a:endParaRPr lang="en-US" sz="1000" dirty="0"/>
          </a:p>
        </p:txBody>
      </p:sp>
      <p:sp>
        <p:nvSpPr>
          <p:cNvPr id="15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lIns="91440" tIns="45720" rIns="91440" bIns="45720" rtlCol="0" anchor="ctr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 panose="020B0604020202090204"/>
                <a:ea typeface="宋体"/>
              </a:rPr>
              <a:t> AI 生成</a:t>
            </a:r>
            <a:endParaRPr lang="zh-CN" sz="1400" b="1" dirty="0">
              <a:solidFill>
                <a:srgbClr val="FFFFFF"/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目录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8191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56362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背景与成果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从零经验到上架 App Store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10912" y="158191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806440" y="156362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常见问题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钱、时间与适用范围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67919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266090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核心原则</a:t>
            </a:r>
            <a:endParaRPr lang="zh-CN" altLang="en-US" sz="1550" b="1" kern="0" spc="10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08760" y="301752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100% AI Coding 的人机分工</a:t>
            </a:r>
            <a:endParaRPr lang="zh-CN" altLang="en-US" sz="1050" dirty="0">
              <a:solidFill>
                <a:srgbClr val="64748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10912" y="267919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06440" y="266090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方法、技巧、</a:t>
            </a:r>
            <a:r>
              <a:rPr lang="zh-CN" alt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经验</a:t>
            </a:r>
            <a:r>
              <a:rPr lang="en-US" altLang="zh-CN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、</a:t>
            </a:r>
            <a:r>
              <a:rPr lang="zh-CN" alt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建议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06440" y="301752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协作方法、实用技巧、</a:t>
            </a:r>
            <a:r>
              <a:rPr lang="zh-CN" alt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实验经验与意见建议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77647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37581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411480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三个月里的每一轮循环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10912" y="3776472"/>
            <a:ext cx="777240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806440" y="375818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  <a:sym typeface="+mn-ea"/>
              </a:rPr>
              <a:t>量化分析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806440" y="4114800"/>
            <a:ext cx="2697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工时、返工率与缺陷数据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 / 16</a:t>
            </a:r>
            <a:endParaRPr lang="en-US" sz="850" dirty="0"/>
          </a:p>
        </p:txBody>
      </p:sp>
      <p:sp>
        <p:nvSpPr>
          <p:cNvPr id="32" name="文本框 31"/>
          <p:cNvSpPr txBox="1"/>
          <p:nvPr/>
        </p:nvSpPr>
        <p:spPr>
          <a:xfrm>
            <a:off x="1412875" y="3749040"/>
            <a:ext cx="2715895" cy="32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sz="1550" b="1" kern="0" spc="10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实操时间线</a:t>
            </a:r>
            <a:endParaRPr lang="en-US" sz="1550" b="1" kern="0" spc="10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 · 背景与成果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为什么做这次实践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617720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581912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1686519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52704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背景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243584" y="1792224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网络工程专业（2013 年毕业），长期从事信息化建设与网络信息安全管理，持有 CISSP / CISP / CDGA 证书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" y="2359152"/>
            <a:ext cx="402336" cy="40233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" y="2463759"/>
            <a:ext cx="193121" cy="1931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30428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语言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243584" y="2569464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熟悉 Python、C、JavaScript、PHP——但没有大型软件开发经验，也没有移动应用开发经验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94944" y="3136392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3240999"/>
            <a:ext cx="193121" cy="1931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3584" y="308152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路径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243584" y="3346704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先完成瑞通 AI Coding 课程，再立即动手验证；实践选择 iOS 应用开发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94944" y="3913632"/>
            <a:ext cx="402336" cy="40233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1" y="4018239"/>
            <a:ext cx="193121" cy="1931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43584" y="3858768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环境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243584" y="4123944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macOS + Xcode + Cursor；具体语言与框架不事先指定，由 Cursor 按需配置</a:t>
            </a:r>
            <a:endParaRPr lang="en-US" sz="1000" dirty="0"/>
          </a:p>
        </p:txBody>
      </p:sp>
      <p:pic>
        <p:nvPicPr>
          <p:cNvPr id="21" name="Image 4" descr="images/image-background_4x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49240" y="1691640"/>
            <a:ext cx="3337560" cy="2505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49240" y="431596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先学会与 AI 协作，再让 AI 干活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24" name="Text 17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 / 16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 · 背景与成果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实践成果：份子钱银行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920240" cy="3703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697480" y="12618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份子钱银行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697480" y="170078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一款本地记账应用，记录每一份人情往来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97480" y="2103120"/>
            <a:ext cx="1572768" cy="347472"/>
          </a:xfrm>
          <a:prstGeom prst="roundRect">
            <a:avLst>
              <a:gd name="adj" fmla="val 50000"/>
            </a:avLst>
          </a:prstGeom>
          <a:solidFill>
            <a:srgbClr val="EAF3F7"/>
          </a:solidFill>
        </p:spPr>
      </p:sp>
      <p:sp>
        <p:nvSpPr>
          <p:cNvPr id="9" name="Text 6"/>
          <p:cNvSpPr/>
          <p:nvPr/>
        </p:nvSpPr>
        <p:spPr>
          <a:xfrm>
            <a:off x="2697480" y="210312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已上架 App Store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34840" y="2103120"/>
            <a:ext cx="1572768" cy="347472"/>
          </a:xfrm>
          <a:prstGeom prst="roundRect">
            <a:avLst>
              <a:gd name="adj" fmla="val 50000"/>
            </a:avLst>
          </a:prstGeom>
          <a:solidFill>
            <a:srgbClr val="EAF3F7"/>
          </a:solidFill>
        </p:spPr>
      </p:sp>
      <p:sp>
        <p:nvSpPr>
          <p:cNvPr id="11" name="Text 8"/>
          <p:cNvSpPr/>
          <p:nvPr/>
        </p:nvSpPr>
        <p:spPr>
          <a:xfrm>
            <a:off x="4434840" y="210312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支持应用内购买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72200" y="21031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EAF3F7"/>
          </a:solidFill>
        </p:spPr>
      </p:sp>
      <p:sp>
        <p:nvSpPr>
          <p:cNvPr id="13" name="Text 10"/>
          <p:cNvSpPr/>
          <p:nvPr/>
        </p:nvSpPr>
        <p:spPr>
          <a:xfrm>
            <a:off x="6172200" y="210312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v1.0.2 已发布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97480" y="268833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应用功能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97480" y="2980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298094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录入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21608" y="2980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98094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查询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45736" y="2980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45736" y="298094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排行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9864" y="29809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9864" y="2980944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当前余额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697480" y="341985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7480" y="341985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未来余额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21608" y="341985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21608" y="341985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备份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45736" y="341985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45736" y="3419856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设置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697480" y="3950208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约 3 个月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697480" y="4261104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业余时间完成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297680" y="3950208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103 小时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297680" y="4261104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Cursor 协作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897880" y="3950208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31 次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897880" y="4261104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代码提交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697480" y="4572000"/>
            <a:ext cx="5943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上架后同步推进推广与软件著作权申请，并按第一批用户反馈发布 1.0.2。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 / 16</a:t>
            </a:r>
            <a:endParaRPr lang="en-US" sz="850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" y="1261745"/>
            <a:ext cx="1648460" cy="3584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 · 常见问题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三个最常被问到的问题</a:t>
            </a:r>
            <a:endParaRPr lang="en-US" sz="2500" dirty="0"/>
          </a:p>
        </p:txBody>
      </p:sp>
      <p:pic>
        <p:nvPicPr>
          <p:cNvPr id="4" name="Image 0" descr="images/image-faq_4x3.jp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2920" y="1600200"/>
            <a:ext cx="310896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298448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0" y="142646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Q1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681728" y="14173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需要花很多钱吗？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81728" y="1719072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不需要。两个月的模型费用共 60 美元，使用最强思考强度和 fast 模式，业余开发的用量额度没有用完。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31920" y="2450592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0" y="257860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Q2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81728" y="25694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需要花很多时间吗？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81728" y="2871216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需要。这项工作本身具有连续性，时间主要花在一轮一轮的确认和验收上。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31920" y="3602736"/>
            <a:ext cx="475488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0" y="373075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Q3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81728" y="372160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可以在实际项目中使用吗？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81728" y="4023360"/>
            <a:ext cx="3840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可以，条件是：人能定义目标、能验收结果、数据允许进入所用模型。涉密数据与无法验收的生产系统，不要交给 AI。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05/ 16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6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1143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E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核心结论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“人工智能目前可以完成一个复杂工程。”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人负责目标、取舍和验收，AI 负责执行。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03 · 核心原则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100% AI Coding（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尽最大可能让</a:t>
            </a:r>
            <a:r>
              <a:rPr lang="en-US" altLang="zh-CN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AI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来完成全部工作</a:t>
            </a: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091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527048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1631655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563624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AI：执行者与建议者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07008" y="1947672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代码、方案、文案、软著草稿、推广稿，尽最大可能由 AI 撰写——使用 AI 越充分，最终收益越大。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3044952"/>
            <a:ext cx="4709160" cy="1591056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" y="3246120"/>
            <a:ext cx="402336" cy="40233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63" y="3350727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32644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人：产品负责人与验收者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07008" y="3611880"/>
            <a:ext cx="3749040" cy="960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确定目标、做取舍、验收结果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申请开发者账号，处理协议与税务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真机测试与审核回复</a:t>
            </a:r>
            <a:endParaRPr lang="en-US" sz="100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提交软件著作权 · 推广投稿</a:t>
            </a:r>
            <a:endParaRPr lang="en-US" sz="1000" dirty="0"/>
          </a:p>
        </p:txBody>
      </p:sp>
      <p:pic>
        <p:nvPicPr>
          <p:cNvPr id="14" name="Image 2" descr="images/image-principle_4x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0680" y="1325880"/>
            <a:ext cx="3246120" cy="243230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40680" y="3931920"/>
            <a:ext cx="3246120" cy="713232"/>
          </a:xfrm>
          <a:prstGeom prst="roundRect">
            <a:avLst>
              <a:gd name="adj" fmla="val 12821"/>
            </a:avLst>
          </a:prstGeom>
          <a:solidFill>
            <a:srgbClr val="EAF3F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577840" y="4023360"/>
            <a:ext cx="297180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“人负责把要求说清楚，并做出判断。”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07 /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 · 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方法、技巧、经验、建议</a:t>
            </a: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-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解决问题的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方法</a:t>
            </a:r>
            <a:endParaRPr lang="zh-CN" altLang="en-US" sz="1050" b="1" kern="0" spc="200" dirty="0">
              <a:solidFill>
                <a:srgbClr val="1C72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和AI携手沟通解决问题</a:t>
            </a:r>
            <a:endParaRPr lang="en-US" sz="2500" b="1" kern="0" spc="15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80744"/>
            <a:ext cx="365760" cy="3657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475842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25880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人规划，AI 执行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892808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" y="1947672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042770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892808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人决定，AI 遵守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459736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5216" y="2514600"/>
            <a:ext cx="365760" cy="3657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2609698"/>
            <a:ext cx="175565" cy="1755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2459736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人提问，AI 回答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57200" y="3026664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5216" y="3081528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3176626"/>
            <a:ext cx="175565" cy="1755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3026664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提出建议，人做决策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57200" y="3593592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5216" y="3648456"/>
            <a:ext cx="365760" cy="36576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3743554"/>
            <a:ext cx="175565" cy="17556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78992" y="3593592"/>
            <a:ext cx="3931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列举选项，人做取舍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57200" y="4224528"/>
            <a:ext cx="4709160" cy="475488"/>
          </a:xfrm>
          <a:prstGeom prst="roundRect">
            <a:avLst>
              <a:gd name="adj" fmla="val 19231"/>
            </a:avLst>
          </a:prstGeom>
          <a:solidFill>
            <a:srgbClr val="EAF3F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594360" y="4224528"/>
            <a:ext cx="44348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每一轮：先说明要什么 → AI 出方案 → 人确认后再动手</a:t>
            </a:r>
            <a:endParaRPr lang="en-US" sz="1050" dirty="0"/>
          </a:p>
        </p:txBody>
      </p:sp>
      <p:pic>
        <p:nvPicPr>
          <p:cNvPr id="26" name="Image 5" descr="images/image-collab_4x3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440680" y="1554480"/>
            <a:ext cx="3246120" cy="243230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40680" y="41148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人提要求，AI 干活；AI 提建议，人做决定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08 / 16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 · 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方法、技巧、经验、建议</a:t>
            </a: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-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重要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技巧</a:t>
            </a:r>
            <a:endParaRPr lang="zh-CN" altLang="en-US" sz="1050" b="1" kern="0" spc="200" dirty="0">
              <a:solidFill>
                <a:srgbClr val="1C72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四个重要技巧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005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508760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1613367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563624"/>
            <a:ext cx="30403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善用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rules，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提前为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制定好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规则</a:t>
            </a:r>
            <a:endParaRPr lang="zh-CN" altLang="en-US" sz="13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94944" y="2039112"/>
            <a:ext cx="35250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编码规范、界面风格、兼容性与文风，提前写进每次对话 AI 都能看见的 Rules；功能完成后再补，上架前会集中返工。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86300" y="1325880"/>
            <a:ext cx="40005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5756" y="1508760"/>
            <a:ext cx="402336" cy="40233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63" y="1613367"/>
            <a:ext cx="193121" cy="1931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36235" y="1563370"/>
            <a:ext cx="3237230" cy="2927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准确的表达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、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明确的指令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提高代码有效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性</a:t>
            </a:r>
            <a:endParaRPr lang="zh-CN" altLang="en-US" sz="13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24044" y="2039112"/>
            <a:ext cx="35250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页面如何划分、点击何处出现什么、哪些字段必填，都写到能够验收；具体实现交给 AI。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36392"/>
            <a:ext cx="40005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6656" y="3319272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63" y="3423879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135" y="3374390"/>
            <a:ext cx="3040380" cy="444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张弛有度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适时让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自己发挥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会有额外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惊喜</a:t>
            </a:r>
            <a:endParaRPr lang="zh-CN" altLang="en-US" sz="13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94944" y="3849624"/>
            <a:ext cx="35250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总体方向由人把握；尚未想清楚的交互，让 AI 先给几种做法并比较优缺点，再由人选择。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86300" y="3136392"/>
            <a:ext cx="400050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5756" y="3319272"/>
            <a:ext cx="402336" cy="40233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363" y="3423879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36235" y="3374390"/>
            <a:ext cx="3040380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让AI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来查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AI（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让英雄来查英雄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让好汉来查好汉</a:t>
            </a:r>
            <a:r>
              <a:rPr lang="en-US" altLang="zh-CN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）</a:t>
            </a:r>
            <a:endParaRPr lang="en-US" altLang="zh-CN" sz="13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924044" y="3849624"/>
            <a:ext cx="3525012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一段功能完成后复查；收尾与上架前收紧任务，只查找重大缺陷，不再增加新功能。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09 / 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 · 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方法、技巧、经验、建议</a:t>
            </a: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-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我踩的坑及相应的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对策</a:t>
            </a:r>
            <a:endParaRPr lang="zh-CN" altLang="en-US" sz="1050" b="1" kern="0" spc="200" dirty="0">
              <a:solidFill>
                <a:srgbClr val="1C72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我踩的坑及相应的对策</a:t>
            </a: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：八条实战经验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99616"/>
            <a:ext cx="329184" cy="32918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603504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0704" y="1371600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你是产品经理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不是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程序员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0704" y="1664208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下达可验收的指令，不介入具体实现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6300" y="1298448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32604" y="1499616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4832604" y="1499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9804" y="1371600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要多想但也别想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过多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89804" y="1664208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方向正确即可推进，不被单页细节挡住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185416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" y="2386584"/>
            <a:ext cx="329184" cy="32918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6" name="Text 14"/>
          <p:cNvSpPr/>
          <p:nvPr/>
        </p:nvSpPr>
        <p:spPr>
          <a:xfrm>
            <a:off x="603504" y="2386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2258568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商店规则会改写商业设想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" y="2551176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买断改为免费下载 + 内购，提前确认规则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6300" y="2185416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32604" y="2386584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4832604" y="23865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9804" y="2258568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人教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AI 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教不会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图教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 AI 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一把就会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了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9804" y="2551176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界面问题直接截图标注，AI 更容易定位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" y="3273552"/>
            <a:ext cx="329184" cy="32918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6" name="Text 24"/>
          <p:cNvSpPr/>
          <p:nvPr/>
        </p:nvSpPr>
        <p:spPr>
          <a:xfrm>
            <a:off x="603504" y="3273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0704" y="3145536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反复修不好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不如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重写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0704" y="3438144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绕进错误路径时，重写比继续修补更有效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6300" y="3072384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32604" y="3273552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1" name="Text 29"/>
          <p:cNvSpPr/>
          <p:nvPr/>
        </p:nvSpPr>
        <p:spPr>
          <a:xfrm>
            <a:off x="4832604" y="3273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89804" y="3145536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说完成了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验收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仍然由人来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做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89804" y="3438144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</a:t>
            </a:r>
            <a:r>
              <a:rPr lang="zh-CN" alt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说做完了</a:t>
            </a:r>
            <a:r>
              <a:rPr lang="en-US" altLang="zh-CN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只说明它认为做完</a:t>
            </a:r>
            <a:r>
              <a:rPr lang="zh-CN" alt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了</a:t>
            </a:r>
            <a:endParaRPr lang="zh-CN" altLang="en-US" sz="950" dirty="0">
              <a:solidFill>
                <a:srgbClr val="64748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3959352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" y="4160520"/>
            <a:ext cx="329184" cy="329184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6" name="Text 34"/>
          <p:cNvSpPr/>
          <p:nvPr/>
        </p:nvSpPr>
        <p:spPr>
          <a:xfrm>
            <a:off x="603504" y="41605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60704" y="4032504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不要重复造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轮子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60704" y="4325112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复用现成能力与已有界面</a:t>
            </a:r>
            <a:endParaRPr lang="zh-CN" altLang="en-US" sz="950" dirty="0">
              <a:solidFill>
                <a:srgbClr val="64748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86300" y="3959352"/>
            <a:ext cx="40005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32604" y="4160520"/>
            <a:ext cx="329184" cy="329184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41" name="Text 39"/>
          <p:cNvSpPr/>
          <p:nvPr/>
        </p:nvSpPr>
        <p:spPr>
          <a:xfrm>
            <a:off x="4832604" y="41605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9804" y="4032504"/>
            <a:ext cx="32232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模型千千万</a:t>
            </a:r>
            <a:r>
              <a:rPr lang="en-US" altLang="zh-CN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，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各有各的</a:t>
            </a:r>
            <a:r>
              <a:rPr lang="zh-CN" altLang="en-US" sz="11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优点</a:t>
            </a:r>
            <a:endParaRPr lang="zh-CN" altLang="en-US" sz="11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289804" y="4325112"/>
            <a:ext cx="32232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按任务选择模型</a:t>
            </a:r>
            <a:endParaRPr lang="zh-CN" altLang="en-US" sz="950" dirty="0">
              <a:solidFill>
                <a:srgbClr val="64748B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10 / 16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 · 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方法、技巧、经验、建议</a:t>
            </a: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-</a:t>
            </a:r>
            <a:r>
              <a:rPr lang="zh-CN" alt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我的建议</a:t>
            </a:r>
            <a:endParaRPr lang="zh-CN" altLang="en-US" sz="1050" b="1" kern="0" spc="200" dirty="0">
              <a:solidFill>
                <a:srgbClr val="1C7293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67055"/>
            <a:ext cx="8229600" cy="10172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altLang="zh-CN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1.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引入标准开发流程</a:t>
            </a: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：</a:t>
            </a:r>
            <a:r>
              <a:rPr lang="en-US" sz="175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每一轮都走同一条路</a:t>
            </a:r>
            <a:endParaRPr lang="en-US" sz="2500" b="1" kern="0" spc="15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zh-CN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2.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just do it</a:t>
            </a:r>
            <a:r>
              <a:rPr lang="en-US" altLang="zh-CN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：</a:t>
            </a:r>
            <a:r>
              <a:rPr lang="zh-CN" altLang="en-US" sz="175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实际走一遍全流程，比什么都管用</a:t>
            </a:r>
            <a:endParaRPr lang="zh-CN" altLang="en-US" sz="2500" b="1" kern="0" spc="15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altLang="zh-CN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3.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备份</a:t>
            </a:r>
            <a:r>
              <a:rPr lang="zh-CN" alt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是个好习惯：</a:t>
            </a:r>
            <a:r>
              <a:rPr lang="zh-CN" altLang="en-US" sz="175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没事咱就commit</a:t>
            </a:r>
            <a:endParaRPr lang="zh-CN" altLang="en-US" sz="1750" b="1" kern="0" spc="150" dirty="0">
              <a:solidFill>
                <a:srgbClr val="21295C"/>
              </a:solidFill>
              <a:latin typeface="Songti SC" panose="02010800040101010101" pitchFamily="34" charset="-122"/>
              <a:ea typeface="Songti SC" panose="02010800040101010101" pitchFamily="34" charset="-122"/>
              <a:cs typeface="Songti SC" panose="02010800040101010101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5528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一轮一事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72184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02536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64208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64208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出方案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79192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9544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71216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71216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人确认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16552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78224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78224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实现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93208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23560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85232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85232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人验收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0216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830568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复查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07224" y="2502027"/>
            <a:ext cx="164592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37576" y="174307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37576" y="17430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99248" y="2200275"/>
            <a:ext cx="987552" cy="603504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99248" y="2200275"/>
            <a:ext cx="987552" cy="6035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提交 commit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" y="324612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为什么需要标准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开发</a:t>
            </a:r>
            <a:r>
              <a:rPr lang="zh-CN" altLang="en-US" sz="13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</a:t>
            </a:r>
            <a:endParaRPr lang="zh-CN" altLang="en-US" sz="1300" b="1" dirty="0">
              <a:solidFill>
                <a:srgbClr val="21295C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1520" y="35935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隔几天再打开工程，人很容易忘记上一轮做到哪里。每一轮只做一个页面或一件事，走同一个循环，就不靠记忆推进。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" y="3977640"/>
            <a:ext cx="7680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上架、内购等隔一段时间还会再用的决定，写成文档保留。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11 / 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 · 实操时间线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三个月，三段推进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4475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阶段一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8.04 – 9.21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298448"/>
            <a:ext cx="6675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12848" y="13898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功能按页面循环推进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38988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一轮只做一个页面或一件事，设计与编码交替，测试穿插其中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11" name="Text 9"/>
          <p:cNvSpPr/>
          <p:nvPr/>
        </p:nvSpPr>
        <p:spPr>
          <a:xfrm>
            <a:off x="2212848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主界面</a:t>
            </a:r>
            <a:endParaRPr lang="en-US" sz="950" u="sng" dirty="0"/>
          </a:p>
        </p:txBody>
      </p:sp>
      <p:sp>
        <p:nvSpPr>
          <p:cNvPr id="12" name="Shape 10"/>
          <p:cNvSpPr/>
          <p:nvPr/>
        </p:nvSpPr>
        <p:spPr>
          <a:xfrm>
            <a:off x="2963962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37698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14" name="Text 12"/>
          <p:cNvSpPr/>
          <p:nvPr/>
        </p:nvSpPr>
        <p:spPr>
          <a:xfrm>
            <a:off x="3137698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头像昵称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88813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62549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17" name="Text 15"/>
          <p:cNvSpPr/>
          <p:nvPr/>
        </p:nvSpPr>
        <p:spPr>
          <a:xfrm>
            <a:off x="4062549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图标</a:t>
            </a:r>
            <a:endParaRPr lang="en-US" sz="950" b="1" u="sng" dirty="0">
              <a:solidFill>
                <a:srgbClr val="065A82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13663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87399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20" name="Text 18"/>
          <p:cNvSpPr/>
          <p:nvPr/>
        </p:nvSpPr>
        <p:spPr>
          <a:xfrm>
            <a:off x="4987399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录入页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38513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12249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23" name="Text 21"/>
          <p:cNvSpPr/>
          <p:nvPr/>
        </p:nvSpPr>
        <p:spPr>
          <a:xfrm>
            <a:off x="5912249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查询排错</a:t>
            </a:r>
            <a:endParaRPr lang="en-US" sz="950" u="sng" dirty="0"/>
          </a:p>
        </p:txBody>
      </p:sp>
      <p:sp>
        <p:nvSpPr>
          <p:cNvPr id="24" name="Shape 22"/>
          <p:cNvSpPr/>
          <p:nvPr/>
        </p:nvSpPr>
        <p:spPr>
          <a:xfrm>
            <a:off x="6663363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37099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26" name="Text 24"/>
          <p:cNvSpPr/>
          <p:nvPr/>
        </p:nvSpPr>
        <p:spPr>
          <a:xfrm>
            <a:off x="6837099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设置页</a:t>
            </a:r>
            <a:endParaRPr lang="en-US" sz="950" u="sng" dirty="0"/>
          </a:p>
        </p:txBody>
      </p:sp>
      <p:sp>
        <p:nvSpPr>
          <p:cNvPr id="27" name="Shape 25"/>
          <p:cNvSpPr/>
          <p:nvPr/>
        </p:nvSpPr>
        <p:spPr>
          <a:xfrm>
            <a:off x="7588214" y="1956816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61950" y="1773936"/>
            <a:ext cx="72368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29" name="Text 27"/>
          <p:cNvSpPr/>
          <p:nvPr/>
        </p:nvSpPr>
        <p:spPr>
          <a:xfrm>
            <a:off x="7761950" y="1773936"/>
            <a:ext cx="72368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功能复查</a:t>
            </a:r>
            <a:endParaRPr lang="en-US" sz="950" b="1" u="sng" dirty="0">
              <a:solidFill>
                <a:srgbClr val="065A82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57860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阶段二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29443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9.21 – 9.30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0" y="2432304"/>
            <a:ext cx="6675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212848" y="25237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上架前集中处理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252374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开发者账号、内购、隐私政策、兼容性与验收，集中补齐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12848" y="2907792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37" name="Text 35"/>
          <p:cNvSpPr/>
          <p:nvPr/>
        </p:nvSpPr>
        <p:spPr>
          <a:xfrm>
            <a:off x="2212848" y="2907792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兼容补齐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36392" y="3090672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310128" y="2907792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40" name="Text 38"/>
          <p:cNvSpPr/>
          <p:nvPr/>
        </p:nvSpPr>
        <p:spPr>
          <a:xfrm>
            <a:off x="3310128" y="2907792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手工测试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33672" y="3090672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407408" y="2907792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43" name="Text 41"/>
          <p:cNvSpPr/>
          <p:nvPr/>
        </p:nvSpPr>
        <p:spPr>
          <a:xfrm>
            <a:off x="4407408" y="2907792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账号与内购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30952" y="3090672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504688" y="2907792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46" name="Text 44"/>
          <p:cNvSpPr/>
          <p:nvPr/>
        </p:nvSpPr>
        <p:spPr>
          <a:xfrm>
            <a:off x="5504688" y="2907792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正式上架</a:t>
            </a:r>
            <a:endParaRPr lang="en-US" sz="950" b="1" u="sng" dirty="0">
              <a:solidFill>
                <a:srgbClr val="065A82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371246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阶段三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457200" y="407822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10.07 – 10.12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11680" y="3566160"/>
            <a:ext cx="6675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212848" y="36576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上架后并行推进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4960" y="365760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根据第一批用户反馈发布新版本，并行推进推广与软著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12848" y="4041648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54" name="Text 52"/>
          <p:cNvSpPr/>
          <p:nvPr/>
        </p:nvSpPr>
        <p:spPr>
          <a:xfrm>
            <a:off x="2212848" y="4041648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v1.0.2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136392" y="4224528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310128" y="4041648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57" name="Text 55"/>
          <p:cNvSpPr/>
          <p:nvPr/>
        </p:nvSpPr>
        <p:spPr>
          <a:xfrm>
            <a:off x="3310128" y="4041648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软著申请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33672" y="4224528"/>
            <a:ext cx="146304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407408" y="4041648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AF3F7"/>
          </a:solidFill>
        </p:spPr>
      </p:sp>
      <p:sp>
        <p:nvSpPr>
          <p:cNvPr id="60" name="Text 58"/>
          <p:cNvSpPr/>
          <p:nvPr/>
        </p:nvSpPr>
        <p:spPr>
          <a:xfrm>
            <a:off x="4407408" y="4041648"/>
            <a:ext cx="896112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推广投稿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12 / 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709160" y="1481328"/>
          <a:ext cx="39776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05 · 量化分析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用数据说话：103 小时的协作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1947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472184"/>
            <a:ext cx="158191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103 h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40080" y="1984248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Cursor 协作总时长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2258568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功能 69.6 · 上架 26.1 · 文档 5.2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78608" y="1325880"/>
            <a:ext cx="1947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61488" y="1472184"/>
            <a:ext cx="158191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88 次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2761488" y="1984248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功能审核确认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61488" y="2258568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方案列出并确认后才动手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71216"/>
            <a:ext cx="1947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017520"/>
            <a:ext cx="158191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30.7%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返工率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3803904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27 次返工 ÷ 88 次确认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78608" y="2871216"/>
            <a:ext cx="1947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761488" y="3017520"/>
            <a:ext cx="158191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65A82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24 个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2761488" y="3529584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bug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761488" y="3803904"/>
            <a:ext cx="158191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已实现行为与既定规则不符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09160" y="12070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88 次功能审核确认的构成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315968"/>
            <a:ext cx="8229600" cy="402336"/>
          </a:xfrm>
          <a:prstGeom prst="roundRect">
            <a:avLst>
              <a:gd name="adj" fmla="val 22727"/>
            </a:avLst>
          </a:prstGeom>
          <a:solidFill>
            <a:srgbClr val="EAF3F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5800" y="4315968"/>
            <a:ext cx="77724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14 项功能中 9 项发生过返工——返工是 AI Coding 的常态，人的验收能力决定效率。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13 / 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57200" y="1325880"/>
          <a:ext cx="54406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32918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06 · 量化分析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kern="0" spc="150" dirty="0">
                <a:solidFill>
                  <a:srgbClr val="21295C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功能开发工时分布（合计 69.6 小时）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172200" y="132588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73368" y="14721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解读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73368" y="1801368"/>
            <a:ext cx="2148840" cy="1691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录入页</a:t>
            </a: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开发耗时最多</a:t>
            </a: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：交互密度最高的页面最耗时</a:t>
            </a:r>
            <a:endParaRPr lang="en-US" sz="1000" dirty="0">
              <a:solidFill>
                <a:srgbClr val="1F2937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查询</a:t>
            </a: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页</a:t>
            </a: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返工次数最多</a:t>
            </a: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：</a:t>
            </a: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查询逻辑越复杂越容易出错</a:t>
            </a:r>
            <a:endParaRPr lang="zh-CN" altLang="en-US" sz="1000" dirty="0">
              <a:solidFill>
                <a:srgbClr val="1F2937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  <a:sym typeface="+mn-ea"/>
            </a:endParaRPr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设置页出现了唯一需要重写的恶性</a:t>
            </a:r>
            <a:r>
              <a:rPr lang="en-US" altLang="zh-CN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bug：</a:t>
            </a:r>
            <a:r>
              <a:rPr lang="zh-CN" alt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牵扯面越广牵扯程度越深的工作最容易出严重</a:t>
            </a:r>
            <a:r>
              <a:rPr lang="en-US" altLang="zh-CN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bug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兼容性占 10.5%：若从第一天写入 Rules，可省下这笔返工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72200" y="3767328"/>
            <a:ext cx="2514600" cy="896112"/>
          </a:xfrm>
          <a:prstGeom prst="roundRect">
            <a:avLst>
              <a:gd name="adj" fmla="val 10204"/>
            </a:avLst>
          </a:prstGeom>
          <a:solidFill>
            <a:srgbClr val="EAF3F7"/>
          </a:solidFill>
          <a:ln w="9525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65A82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3877056"/>
            <a:ext cx="2148840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上架对话 26.1 小时、软著与推广文档 5.2 小时另计，三部分合计约 103 小时。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AI Coding 保姆级指引（iOS 移动应用）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8096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14 / 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6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822960" y="9144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E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结语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680960" cy="20116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2500" b="1" kern="0" spc="1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瓶颈在想法是否值得做，</a:t>
            </a:r>
            <a:endParaRPr lang="en-US" sz="2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500" b="1" kern="0" spc="1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难点在协作是否有效，</a:t>
            </a:r>
            <a:endParaRPr lang="en-US" sz="2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500" b="1" kern="0" spc="1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风险在隐私能否守住。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374904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—— 与每一位想尝试 AI Coding 的人共勉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6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14400" y="105156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kern="0" spc="250" dirty="0">
                <a:solidFill>
                  <a:srgbClr val="FFFFFF"/>
                </a:solidFill>
                <a:latin typeface="Songti SC" panose="02010800040101010101" pitchFamily="34" charset="-122"/>
                <a:ea typeface="Songti SC" panose="02010800040101010101" pitchFamily="34" charset="-122"/>
                <a:cs typeface="Songti SC" panose="02010800040101010101" pitchFamily="34" charset="-120"/>
              </a:rPr>
              <a:t>谢谢观看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9FD8E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把目标说清楚，把验收做到位，剩下的交给 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737360" y="2606040"/>
            <a:ext cx="5669280" cy="1554480"/>
          </a:xfrm>
          <a:prstGeom prst="roundRect">
            <a:avLst>
              <a:gd name="adj" fmla="val 7059"/>
            </a:avLst>
          </a:prstGeom>
          <a:solidFill>
            <a:srgbClr val="1C7293">
              <a:alpha val="55000"/>
            </a:srgbClr>
          </a:solidFill>
          <a:ln w="9525">
            <a:solidFill>
              <a:srgbClr val="9FD8E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80720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20000"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邮箱：fingalyang@outlook.com</a:t>
            </a:r>
            <a:endParaRPr lang="en-US" sz="12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App Store：</a:t>
            </a:r>
            <a:r>
              <a:rPr lang="en-US" altLang="zh-CN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https://apps.apple.com/cn/app/</a:t>
            </a:r>
            <a:r>
              <a:rPr lang="zh-CN" alt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份子钱银行/</a:t>
            </a:r>
            <a:r>
              <a:rPr lang="en-US" altLang="zh-CN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id6817363332</a:t>
            </a:r>
            <a:endParaRPr lang="en-US" altLang="zh-CN" sz="1200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GitHub：</a:t>
            </a:r>
            <a:r>
              <a:rPr lang="en-US" altLang="zh-CN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https://github.com/xray1224/AI-Coding-Guide-IOS-APP</a:t>
            </a:r>
            <a:endParaRPr lang="en-US" altLang="zh-CN" sz="1200" dirty="0">
              <a:solidFill>
                <a:srgbClr val="FFFFFF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Gitee：https://gitee.com/fingalyang/AI-Coding-Guide-IOS-APP</a:t>
            </a:r>
            <a:endParaRPr lang="en-US" altLang="zh-CN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C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感谢陈老师开发这门课程，感谢李老师、任老师的专业工作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3294</Words>
  <Application>WPS 演示</Application>
  <PresentationFormat>On-screen Show (16:9)</PresentationFormat>
  <Paragraphs>467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PingFang SC</vt:lpstr>
      <vt:lpstr>PingFang SC</vt:lpstr>
      <vt:lpstr>Songti SC</vt:lpstr>
      <vt:lpstr>Songti SC</vt:lpstr>
      <vt:lpstr>Arial</vt:lpstr>
      <vt:lpstr>宋体</vt:lpstr>
      <vt:lpstr>汉仪书宋二KW</vt:lpstr>
      <vt:lpstr>Calibri</vt:lpstr>
      <vt:lpstr>Helvetica Neue</vt:lpstr>
      <vt:lpstr>微软雅黑</vt:lpstr>
      <vt:lpstr>方正雅意黑 GB18030L2</vt:lpstr>
      <vt:lpstr>宋体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保姆级指引（iOS 移动应用）</dc:title>
  <dc:creator>fingalyang</dc:creator>
  <dc:subject>PptxGenJS Presentation</dc:subject>
  <cp:lastModifiedBy>Fingal</cp:lastModifiedBy>
  <cp:revision>5</cp:revision>
  <dcterms:created xsi:type="dcterms:W3CDTF">2026-10-17T13:20:54Z</dcterms:created>
  <dcterms:modified xsi:type="dcterms:W3CDTF">2026-10-17T13:20:54Z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FBE8CBD51C5BADF7F534D36AA8CA09EF_42</vt:lpwstr>
  </property>
</Properties>
</file>