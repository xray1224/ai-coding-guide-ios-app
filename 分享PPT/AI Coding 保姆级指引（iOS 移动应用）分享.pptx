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72" r:id="rId5"/>
    <p:sldId id="273" r:id="rId6"/>
    <p:sldId id="257" r:id="rId7"/>
    <p:sldId id="258" r:id="rId8"/>
    <p:sldId id="259" r:id="rId9"/>
    <p:sldId id="269" r:id="rId10"/>
    <p:sldId id="260" r:id="rId11"/>
    <p:sldId id="261" r:id="rId12"/>
    <p:sldId id="262" r:id="rId13"/>
    <p:sldId id="263" r:id="rId14"/>
    <p:sldId id="264" r:id="rId15"/>
    <p:sldId id="265" r:id="rId16"/>
    <p:sldId id="274" r:id="rId17"/>
    <p:sldId id="266" r:id="rId18"/>
    <p:sldId id="267" r:id="rId19"/>
    <p:sldId id="268" r:id="rId20"/>
    <p:sldId id="270" r:id="rId21"/>
    <p:sldId id="271" r:id="rId2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确认构成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bubble3D val="0"/>
            <c:spPr>
              <a:solidFill>
                <a:srgbClr val="4A90A4"/>
              </a:solidFill>
              <a:effectLst/>
            </c:spPr>
          </c:dPt>
          <c:dPt>
            <c:idx val="3"/>
            <c:bubble3D val="0"/>
            <c:spPr>
              <a:solidFill>
                <a:srgbClr val="8FB9CB"/>
              </a:solidFill>
              <a:effectLst/>
            </c:spPr>
          </c:dPt>
          <c:dLbls>
            <c:dLbl>
              <c:idx val="0"/>
              <c:layout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950" b="0" i="0" u="none" strike="noStrike" kern="1200" baseline="0">
                      <a:solidFill>
                        <a:srgbClr val="FFFFFF"/>
                      </a:solidFill>
                      <a:latin typeface="PingFang SC" panose="020B0400000000000000" pitchFamily="34" charset="-122"/>
                      <a:ea typeface="+mn-ea"/>
                      <a:cs typeface="+mn-c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950" b="0" i="0" u="none" strike="noStrike" kern="1200" baseline="0">
                      <a:solidFill>
                        <a:srgbClr val="FFFFFF"/>
                      </a:solidFill>
                      <a:latin typeface="PingFang SC" panose="020B0400000000000000" pitchFamily="34" charset="-122"/>
                      <a:ea typeface="+mn-ea"/>
                      <a:cs typeface="+mn-c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950" b="0" i="0" u="none" strike="noStrike" kern="1200" baseline="0">
                      <a:solidFill>
                        <a:srgbClr val="FFFFFF"/>
                      </a:solidFill>
                      <a:latin typeface="PingFang SC" panose="020B0400000000000000" pitchFamily="34" charset="-122"/>
                      <a:ea typeface="+mn-ea"/>
                      <a:cs typeface="+mn-c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950" b="0" i="0" u="none" strike="noStrike" kern="1200" baseline="0">
                      <a:solidFill>
                        <a:srgbClr val="FFFFFF"/>
                      </a:solidFill>
                      <a:latin typeface="PingFang SC" panose="020B0400000000000000" pitchFamily="34" charset="-122"/>
                      <a:ea typeface="+mn-ea"/>
                      <a:cs typeface="+mn-c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新功能 40</c:v>
                </c:pt>
                <c:pt idx="1">
                  <c:v>返工 23</c:v>
                </c:pt>
                <c:pt idx="2">
                  <c:v>缺陷修复 18</c:v>
                </c:pt>
                <c:pt idx="3">
                  <c:v>仅复查 7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23</c:v>
                </c:pt>
                <c:pt idx="2">
                  <c:v>18</c:v>
                </c:pt>
                <c:pt idx="3">
                  <c:v>7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000" b="0" i="0" u="none" strike="noStrike" kern="1200" baseline="0">
              <a:solidFill>
                <a:srgbClr val="334155"/>
              </a:solidFill>
              <a:latin typeface="PingFang SC" panose="020B0400000000000000" pitchFamily="34" charset="-122"/>
              <a:ea typeface="+mn-ea"/>
              <a:cs typeface="PingFang SC" panose="020B0400000000000000" pitchFamily="34" charset="-122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42a6c26c-933a-4581-831a-f31c0d335be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工时（小时）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50" b="0" i="0" u="none" strike="noStrike" kern="1200" baseline="0">
                    <a:solidFill>
                      <a:srgbClr val="065A82"/>
                    </a:solidFill>
                    <a:latin typeface="PingFang SC" panose="020B0400000000000000" pitchFamily="34" charset="-122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Sheet1!$A$2:$A$10</c:f>
              <c:strCache>
                <c:ptCount val="9"/>
                <c:pt idx="0">
                  <c:v>其他功能</c:v>
                </c:pt>
                <c:pt idx="1">
                  <c:v>测试与稳定性</c:v>
                </c:pt>
                <c:pt idx="2">
                  <c:v>头像昵称与图标</c:v>
                </c:pt>
                <c:pt idx="3">
                  <c:v>内购与免费层</c:v>
                </c:pt>
                <c:pt idx="4">
                  <c:v>1.0.2 用户反馈</c:v>
                </c:pt>
                <c:pt idx="5">
                  <c:v>查询页</c:v>
                </c:pt>
                <c:pt idx="6">
                  <c:v>深色模式与兼容</c:v>
                </c:pt>
                <c:pt idx="7">
                  <c:v>设置与选项管理</c:v>
                </c:pt>
                <c:pt idx="8">
                  <c:v>录入页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3.7</c:v>
                </c:pt>
                <c:pt idx="2">
                  <c:v>4.9</c:v>
                </c:pt>
                <c:pt idx="3">
                  <c:v>5.2</c:v>
                </c:pt>
                <c:pt idx="4">
                  <c:v>6.2</c:v>
                </c:pt>
                <c:pt idx="5">
                  <c:v>7.2</c:v>
                </c:pt>
                <c:pt idx="6">
                  <c:v>7.3</c:v>
                </c:pt>
                <c:pt idx="7">
                  <c:v>7.6</c:v>
                </c:pt>
                <c:pt idx="8">
                  <c:v>18.5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50" b="0" i="0" u="none" strike="noStrike" kern="1200" baseline="0">
                <a:solidFill>
                  <a:srgbClr val="334155"/>
                </a:solidFill>
                <a:latin typeface="PingFang SC" panose="020B0400000000000000" pitchFamily="34" charset="-122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e6559317-ad86-42d1-b023-cf0fe54e3987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2.jpeg"/><Relationship Id="rId4" Type="http://schemas.openxmlformats.org/officeDocument/2006/relationships/image" Target="../media/image5.png"/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jpe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6.jpe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8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21.jpe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4.png"/><Relationship Id="rId3" Type="http://schemas.openxmlformats.org/officeDocument/2006/relationships/image" Target="../media/image7.png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525"/>
            <a:ext cx="9144000" cy="5143500"/>
          </a:xfrm>
          <a:prstGeom prst="rect">
            <a:avLst/>
          </a:prstGeom>
          <a:solidFill>
            <a:srgbClr val="111827">
              <a:alpha val="58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566928" y="530352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1C7293">
              <a:alpha val="55000"/>
            </a:srgbClr>
          </a:solidFill>
          <a:ln w="12700">
            <a:solidFill>
              <a:srgbClr val="9FD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530352"/>
            <a:ext cx="141732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D6EEF6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开源项目分享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72768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800" b="1" kern="0" spc="250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AI Coding 保姆级指引</a:t>
            </a:r>
            <a:endParaRPr lang="en-US" sz="2000" b="1" kern="0" spc="150" dirty="0">
              <a:solidFill>
                <a:schemeClr val="bg1"/>
              </a:solidFill>
              <a:latin typeface="Songti SC" panose="02010800040101010101" pitchFamily="34" charset="-122"/>
              <a:ea typeface="Songti SC" panose="02010800040101010101" pitchFamily="34" charset="-122"/>
              <a:cs typeface="Songti SC" panose="02010800040101010101" pitchFamily="34" charset="-120"/>
              <a:sym typeface="+mn-ea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2395855"/>
            <a:ext cx="8046720" cy="50419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algn="l">
              <a:buClrTx/>
              <a:buSzTx/>
              <a:buFontTx/>
              <a:buNone/>
            </a:pPr>
            <a:r>
              <a:rPr lang="en-US" altLang="zh-CN" sz="2200" b="1" kern="0" spc="150" dirty="0">
                <a:solidFill>
                  <a:srgbClr val="9FD8E8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  <a:sym typeface="+mn-ea"/>
              </a:rPr>
              <a:t>（</a:t>
            </a:r>
            <a:r>
              <a:rPr lang="en-US" altLang="zh-CN" sz="2200" b="1" kern="0" spc="150" dirty="0">
                <a:solidFill>
                  <a:srgbClr val="9FD8E8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  <a:sym typeface="+mn-ea"/>
              </a:rPr>
              <a:t>iOS 移动应用）</a:t>
            </a:r>
            <a:endParaRPr lang="en-US" altLang="zh-CN" sz="2200" b="1" kern="0" spc="150" dirty="0">
              <a:solidFill>
                <a:srgbClr val="9FD8E8"/>
              </a:solidFill>
              <a:latin typeface="Songti SC" panose="02010800040101010101" pitchFamily="34" charset="-122"/>
              <a:ea typeface="Songti SC" panose="02010800040101010101" pitchFamily="34" charset="-122"/>
              <a:cs typeface="Songti SC" panose="02010800040101010101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E6F0F5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没有移动开发经验，也能把一款 App 送上 App Store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3950208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1C7293">
              <a:alpha val="55000"/>
            </a:srgbClr>
          </a:solidFill>
          <a:ln w="9525">
            <a:solidFill>
              <a:srgbClr val="9FD8E8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3950208"/>
            <a:ext cx="178308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案例：份子钱银行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51176" y="3950208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1C7293">
              <a:alpha val="55000"/>
            </a:srgbClr>
          </a:solidFill>
          <a:ln w="9525">
            <a:solidFill>
              <a:srgbClr val="9FD8E8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51176" y="3950208"/>
            <a:ext cx="178308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业余时间约 3 个月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35424" y="3950208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1C7293">
              <a:alpha val="55000"/>
            </a:srgbClr>
          </a:solidFill>
          <a:ln w="9525">
            <a:solidFill>
              <a:srgbClr val="9FD8E8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35424" y="3950208"/>
            <a:ext cx="21488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Cursor 协作约 103 小时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464515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8FA3C8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分享人：fingalyang</a:t>
            </a:r>
            <a:endParaRPr lang="en-US" sz="1000" dirty="0"/>
          </a:p>
        </p:txBody>
      </p:sp>
      <p:sp>
        <p:nvSpPr>
          <p:cNvPr id="15" name="AILabel"/>
          <p:cNvSpPr txBox="1"/>
          <p:nvPr/>
        </p:nvSpPr>
        <p:spPr>
          <a:xfrm>
            <a:off x="6564000" y="4563500"/>
            <a:ext cx="2400000" cy="400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FFFFFF"/>
            </a:solidFill>
          </a:ln>
        </p:spPr>
        <p:txBody>
          <a:bodyPr wrap="square" lIns="91440" tIns="45720" rIns="91440" bIns="45720" rtlCol="0" anchor="ctr"/>
          <a:lstStyle/>
          <a:p>
            <a:pPr algn="ctr"/>
            <a:r>
              <a:rPr lang="zh-CN" sz="1400" b="1" dirty="0">
                <a:solidFill>
                  <a:srgbClr val="FFFFFF"/>
                </a:solidFill>
                <a:latin typeface="Arial" panose="020B0604020202090204"/>
                <a:ea typeface="宋体"/>
              </a:rPr>
              <a:t> AI 生成</a:t>
            </a:r>
            <a:endParaRPr lang="zh-CN" sz="1400" b="1" dirty="0">
              <a:solidFill>
                <a:srgbClr val="FFFFFF"/>
              </a:solidFill>
              <a:latin typeface="Arial" panose="020B0604020202090204"/>
              <a:ea typeface="宋体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开场 · 先认识一下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什么是 AI Coding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617720" cy="3310128"/>
          </a:xfrm>
          <a:prstGeom prst="roundRect">
            <a:avLst>
              <a:gd name="adj" fmla="val 276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94944" y="1581912"/>
            <a:ext cx="402336" cy="402336"/>
          </a:xfrm>
          <a:prstGeom prst="ellipse">
            <a:avLst/>
          </a:prstGeom>
          <a:solidFill>
            <a:srgbClr val="065A82"/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551" y="1686519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43584" y="1527048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定义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243584" y="1792224"/>
            <a:ext cx="36118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用自然语言描述需求，由 AI 生成、修改和调试代码的开发方式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" y="2359152"/>
            <a:ext cx="402336" cy="402336"/>
          </a:xfrm>
          <a:prstGeom prst="ellipse">
            <a:avLst/>
          </a:prstGeom>
          <a:solidFill>
            <a:srgbClr val="1C7293"/>
          </a:solidFill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51" y="2463759"/>
            <a:ext cx="193121" cy="1931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43584" y="2304288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分工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243584" y="2569464"/>
            <a:ext cx="36118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人负责定目标、做取舍、管验收；AI 负责具体的代码实现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94944" y="3136392"/>
            <a:ext cx="402336" cy="402336"/>
          </a:xfrm>
          <a:prstGeom prst="ellipse">
            <a:avLst/>
          </a:prstGeom>
          <a:solidFill>
            <a:srgbClr val="065A82"/>
          </a:solidFill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551" y="3240999"/>
            <a:ext cx="193121" cy="1931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43584" y="3081528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方式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1243584" y="3346704"/>
            <a:ext cx="36118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在编辑器里边对话边开发：人提需求，AI 写代码，人来验收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94944" y="3913632"/>
            <a:ext cx="402336" cy="402336"/>
          </a:xfrm>
          <a:prstGeom prst="ellipse">
            <a:avLst/>
          </a:prstGeom>
          <a:solidFill>
            <a:srgbClr val="1C7293"/>
          </a:solidFill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551" y="4018239"/>
            <a:ext cx="193121" cy="19312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43584" y="3858768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实践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1243584" y="4123944"/>
            <a:ext cx="36118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本次分享的 iOS 应用，全部代码均由人与 Cursor 协作完成</a:t>
            </a:r>
            <a:endParaRPr lang="en-US" sz="1000" dirty="0"/>
          </a:p>
        </p:txBody>
      </p:sp>
      <p:pic>
        <p:nvPicPr>
          <p:cNvPr id="21" name="Image 4" descr="images/image-background_4x3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5349240" y="1691640"/>
            <a:ext cx="3337560" cy="250545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49240" y="4315968"/>
            <a:ext cx="33375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写代码，人做判断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457200" y="4846320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Coding 保姆级指引（iOS 移动应用）</a:t>
            </a:r>
            <a:endParaRPr lang="en-US" sz="850" dirty="0"/>
          </a:p>
        </p:txBody>
      </p:sp>
      <p:sp>
        <p:nvSpPr>
          <p:cNvPr id="24" name="Text 17"/>
          <p:cNvSpPr/>
          <p:nvPr/>
        </p:nvSpPr>
        <p:spPr>
          <a:xfrm>
            <a:off x="7680960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02 / 19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开场 · 认识工具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Cursor：你的 AI 编程搭档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617720" cy="3310128"/>
          </a:xfrm>
          <a:prstGeom prst="roundRect">
            <a:avLst>
              <a:gd name="adj" fmla="val 276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94944" y="1581912"/>
            <a:ext cx="402336" cy="402336"/>
          </a:xfrm>
          <a:prstGeom prst="ellipse">
            <a:avLst/>
          </a:prstGeom>
          <a:solidFill>
            <a:srgbClr val="065A82"/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551" y="1686519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43584" y="1527048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是什么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243584" y="1792224"/>
            <a:ext cx="36118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基于 VS Code 深度定制的 AI 原生代码编辑器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" y="2359152"/>
            <a:ext cx="402336" cy="402336"/>
          </a:xfrm>
          <a:prstGeom prst="ellipse">
            <a:avLst/>
          </a:prstGeom>
          <a:solidFill>
            <a:srgbClr val="1C7293"/>
          </a:solidFill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51" y="2463759"/>
            <a:ext cx="193121" cy="1931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43584" y="2304288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能做什么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243584" y="2569464"/>
            <a:ext cx="36118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对话生成代码、跨文件改写、自动排错，还能按需配置开发环境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94944" y="3136392"/>
            <a:ext cx="402336" cy="402336"/>
          </a:xfrm>
          <a:prstGeom prst="ellipse">
            <a:avLst/>
          </a:prstGeom>
          <a:solidFill>
            <a:srgbClr val="065A82"/>
          </a:solidFill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551" y="3240999"/>
            <a:ext cx="193121" cy="1931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43584" y="3081528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怎么协作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1243584" y="3346704"/>
            <a:ext cx="36118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人用自然语言下指令，Cursor 读写工程文件，人来审查确认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94944" y="3913632"/>
            <a:ext cx="402336" cy="402336"/>
          </a:xfrm>
          <a:prstGeom prst="ellipse">
            <a:avLst/>
          </a:prstGeom>
          <a:solidFill>
            <a:srgbClr val="1C7293"/>
          </a:solidFill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551" y="4018239"/>
            <a:ext cx="193121" cy="19312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43584" y="3858768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本次实践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1243584" y="4123944"/>
            <a:ext cx="36118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从创建工程到提交上架，全程约 103 小时与 Cursor 协作完成</a:t>
            </a:r>
            <a:endParaRPr lang="en-US" sz="1000" dirty="0"/>
          </a:p>
        </p:txBody>
      </p:sp>
      <p:sp>
        <p:nvSpPr>
          <p:cNvPr id="22" name="Text 15"/>
          <p:cNvSpPr/>
          <p:nvPr/>
        </p:nvSpPr>
        <p:spPr>
          <a:xfrm>
            <a:off x="5349240" y="4315968"/>
            <a:ext cx="33375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在 Cursor 里，对话就是开发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457200" y="4846320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Coding 保姆级指引（iOS 移动应用）</a:t>
            </a:r>
            <a:endParaRPr lang="en-US" sz="850" dirty="0"/>
          </a:p>
        </p:txBody>
      </p:sp>
      <p:sp>
        <p:nvSpPr>
          <p:cNvPr id="24" name="Text 17"/>
          <p:cNvSpPr/>
          <p:nvPr/>
        </p:nvSpPr>
        <p:spPr>
          <a:xfrm>
            <a:off x="7680960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03 / 19</a:t>
            </a:r>
            <a:endParaRPr lang="en-US" sz="850" dirty="0"/>
          </a:p>
        </p:txBody>
      </p:sp>
      <p:pic>
        <p:nvPicPr>
          <p:cNvPr id="25" name="图片 24" descr="截屏2026-10-22 09.30.5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9850" y="1783080"/>
            <a:ext cx="3879850" cy="2395220"/>
          </a:xfrm>
          <a:prstGeom prst="rect">
            <a:avLst/>
          </a:prstGeom>
        </p:spPr>
      </p:pic>
      <p:sp>
        <p:nvSpPr>
          <p:cNvPr id="26" name="矩形 25"/>
          <p:cNvSpPr/>
          <p:nvPr/>
        </p:nvSpPr>
        <p:spPr>
          <a:xfrm>
            <a:off x="6451600" y="2761615"/>
            <a:ext cx="1229360" cy="132715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矩形 26"/>
          <p:cNvSpPr/>
          <p:nvPr/>
        </p:nvSpPr>
        <p:spPr>
          <a:xfrm>
            <a:off x="5349240" y="1984375"/>
            <a:ext cx="720090" cy="2033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CONTENTS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目录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581912"/>
            <a:ext cx="777240" cy="6035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C7293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08760" y="1563624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kern="0" spc="10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背景与成果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508760" y="1920240"/>
            <a:ext cx="269748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从零经验到上架 App Store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93192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10912" y="1581912"/>
            <a:ext cx="777240" cy="6035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C7293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806440" y="1563624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kern="0" spc="10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  <a:sym typeface="+mn-ea"/>
              </a:rPr>
              <a:t>常见问题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806440" y="1920240"/>
            <a:ext cx="269748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钱、时间与适用范围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393192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13232" y="2679192"/>
            <a:ext cx="777240" cy="6035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C7293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508760" y="2660904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kern="0" spc="10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  <a:sym typeface="+mn-ea"/>
              </a:rPr>
              <a:t>核心原则</a:t>
            </a:r>
            <a:endParaRPr lang="zh-CN" altLang="en-US" sz="1550" b="1" kern="0" spc="100" dirty="0">
              <a:solidFill>
                <a:srgbClr val="21295C"/>
              </a:solidFill>
              <a:latin typeface="Songti SC" panose="02010800040101010101" pitchFamily="34" charset="-122"/>
              <a:ea typeface="Songti SC" panose="02010800040101010101" pitchFamily="34" charset="-122"/>
              <a:cs typeface="Songti SC" panose="02010800040101010101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508760" y="3017520"/>
            <a:ext cx="269748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100% AI Coding 的人机分工</a:t>
            </a:r>
            <a:endParaRPr lang="zh-CN" altLang="en-US" sz="1050" dirty="0">
              <a:solidFill>
                <a:srgbClr val="64748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754880" y="2514600"/>
            <a:ext cx="393192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10912" y="2679192"/>
            <a:ext cx="777240" cy="6035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C7293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806440" y="2660904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kern="0" spc="10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  <a:sym typeface="+mn-ea"/>
              </a:rPr>
              <a:t>方法、技巧、</a:t>
            </a:r>
            <a:r>
              <a:rPr lang="zh-CN" altLang="en-US" sz="1550" b="1" kern="0" spc="10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  <a:sym typeface="+mn-ea"/>
              </a:rPr>
              <a:t>经验</a:t>
            </a:r>
            <a:r>
              <a:rPr lang="en-US" altLang="zh-CN" sz="1550" b="1" kern="0" spc="10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  <a:sym typeface="+mn-ea"/>
              </a:rPr>
              <a:t>、</a:t>
            </a:r>
            <a:r>
              <a:rPr lang="zh-CN" altLang="en-US" sz="1550" b="1" kern="0" spc="10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  <a:sym typeface="+mn-ea"/>
              </a:rPr>
              <a:t>建议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806440" y="3017520"/>
            <a:ext cx="269748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协作方法、实用技巧、</a:t>
            </a:r>
            <a:r>
              <a:rPr lang="zh-CN" altLang="en-US" sz="10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实验经验与意见建议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611880"/>
            <a:ext cx="393192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13232" y="3776472"/>
            <a:ext cx="777240" cy="6035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C7293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05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508760" y="3758184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508760" y="4114800"/>
            <a:ext cx="269748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三个月里的每一轮循环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54880" y="3611880"/>
            <a:ext cx="393192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010912" y="3776472"/>
            <a:ext cx="777240" cy="6035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C7293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06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5806440" y="3758184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kern="0" spc="10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  <a:sym typeface="+mn-ea"/>
              </a:rPr>
              <a:t>量化分析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5806440" y="4114800"/>
            <a:ext cx="269748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工时、返工率与缺陷数据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4846320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Coding 保姆级指引（iOS 移动应用）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680960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04 / 19</a:t>
            </a:r>
            <a:endParaRPr lang="en-US" sz="850" dirty="0"/>
          </a:p>
        </p:txBody>
      </p:sp>
      <p:sp>
        <p:nvSpPr>
          <p:cNvPr id="32" name="文本框 31"/>
          <p:cNvSpPr txBox="1"/>
          <p:nvPr/>
        </p:nvSpPr>
        <p:spPr>
          <a:xfrm>
            <a:off x="1412875" y="3749040"/>
            <a:ext cx="2715895" cy="329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>
              <a:buClrTx/>
              <a:buSzTx/>
              <a:buFontTx/>
            </a:pPr>
            <a:r>
              <a:rPr lang="en-US" sz="1550" b="1" kern="0" spc="10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实操时间线</a:t>
            </a:r>
            <a:endParaRPr lang="en-US" sz="1550" b="1" kern="0" spc="100" dirty="0">
              <a:solidFill>
                <a:srgbClr val="21295C"/>
              </a:solidFill>
              <a:latin typeface="Songti SC" panose="02010800040101010101" pitchFamily="34" charset="-122"/>
              <a:ea typeface="Songti SC" panose="02010800040101010101" pitchFamily="34" charset="-122"/>
              <a:cs typeface="Songti SC" panose="02010800040101010101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01 · 背景与成果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为什么做这次实践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617720" cy="3310128"/>
          </a:xfrm>
          <a:prstGeom prst="roundRect">
            <a:avLst>
              <a:gd name="adj" fmla="val 276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94944" y="1581912"/>
            <a:ext cx="402336" cy="402336"/>
          </a:xfrm>
          <a:prstGeom prst="ellipse">
            <a:avLst/>
          </a:prstGeom>
          <a:solidFill>
            <a:srgbClr val="065A82"/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551" y="1686519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43584" y="1527048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背景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243584" y="1792224"/>
            <a:ext cx="36118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网络工程专业（2013 年毕业），长期从事信息化建设与网络信息安全管理，持有 CISSP / CISP / CDGA 证书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" y="2359152"/>
            <a:ext cx="402336" cy="402336"/>
          </a:xfrm>
          <a:prstGeom prst="ellipse">
            <a:avLst/>
          </a:prstGeom>
          <a:solidFill>
            <a:srgbClr val="1C7293"/>
          </a:solidFill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51" y="2463759"/>
            <a:ext cx="193121" cy="1931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43584" y="2304288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语言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243584" y="2569464"/>
            <a:ext cx="36118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熟悉 Python、C、JavaScript、PHP——但没有大型软件开发经验，也没有移动应用开发经验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94944" y="3136392"/>
            <a:ext cx="402336" cy="402336"/>
          </a:xfrm>
          <a:prstGeom prst="ellipse">
            <a:avLst/>
          </a:prstGeom>
          <a:solidFill>
            <a:srgbClr val="065A82"/>
          </a:solidFill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551" y="3240999"/>
            <a:ext cx="193121" cy="1931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43584" y="3081528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路径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1243584" y="3346704"/>
            <a:ext cx="36118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先完成瑞通 AI Coding 课程，再立即动手验证；实践选择 iOS 应用开发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94944" y="3913632"/>
            <a:ext cx="402336" cy="402336"/>
          </a:xfrm>
          <a:prstGeom prst="ellipse">
            <a:avLst/>
          </a:prstGeom>
          <a:solidFill>
            <a:srgbClr val="1C7293"/>
          </a:solidFill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551" y="4018239"/>
            <a:ext cx="193121" cy="19312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43584" y="3858768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环境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1243584" y="4123944"/>
            <a:ext cx="36118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macOS + Xcode + Cursor；具体语言与框架不事先指定，由 Cursor 按需配置</a:t>
            </a:r>
            <a:endParaRPr lang="en-US" sz="1000" dirty="0"/>
          </a:p>
        </p:txBody>
      </p:sp>
      <p:pic>
        <p:nvPicPr>
          <p:cNvPr id="21" name="Image 4" descr="images/image-background_4x3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5349240" y="1691640"/>
            <a:ext cx="3337560" cy="250545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49240" y="4315968"/>
            <a:ext cx="33375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先学会与 AI 协作，再让 AI 干活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457200" y="4846320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Coding 保姆级指引（iOS 移动应用）</a:t>
            </a:r>
            <a:endParaRPr lang="en-US" sz="850" dirty="0"/>
          </a:p>
        </p:txBody>
      </p:sp>
      <p:sp>
        <p:nvSpPr>
          <p:cNvPr id="24" name="Text 17"/>
          <p:cNvSpPr/>
          <p:nvPr/>
        </p:nvSpPr>
        <p:spPr>
          <a:xfrm>
            <a:off x="7680960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05 / 19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01 · 背景与成果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实践成果：份子钱银行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1920240" cy="37033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2697480" y="1261872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份子钱银行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2697480" y="170078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一款本地记账应用，记录每一份人情往来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697480" y="2103120"/>
            <a:ext cx="1572768" cy="347472"/>
          </a:xfrm>
          <a:prstGeom prst="roundRect">
            <a:avLst>
              <a:gd name="adj" fmla="val 50000"/>
            </a:avLst>
          </a:prstGeom>
          <a:solidFill>
            <a:srgbClr val="EAF3F7"/>
          </a:solidFill>
        </p:spPr>
      </p:sp>
      <p:sp>
        <p:nvSpPr>
          <p:cNvPr id="9" name="Text 6"/>
          <p:cNvSpPr/>
          <p:nvPr/>
        </p:nvSpPr>
        <p:spPr>
          <a:xfrm>
            <a:off x="2697480" y="2103120"/>
            <a:ext cx="1572768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已上架 App Store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434840" y="2103120"/>
            <a:ext cx="1572768" cy="347472"/>
          </a:xfrm>
          <a:prstGeom prst="roundRect">
            <a:avLst>
              <a:gd name="adj" fmla="val 50000"/>
            </a:avLst>
          </a:prstGeom>
          <a:solidFill>
            <a:srgbClr val="EAF3F7"/>
          </a:solidFill>
        </p:spPr>
      </p:sp>
      <p:sp>
        <p:nvSpPr>
          <p:cNvPr id="11" name="Text 8"/>
          <p:cNvSpPr/>
          <p:nvPr/>
        </p:nvSpPr>
        <p:spPr>
          <a:xfrm>
            <a:off x="4434840" y="2103120"/>
            <a:ext cx="1572768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支持应用内购买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72200" y="210312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EAF3F7"/>
          </a:solidFill>
        </p:spPr>
      </p:sp>
      <p:sp>
        <p:nvSpPr>
          <p:cNvPr id="13" name="Text 10"/>
          <p:cNvSpPr/>
          <p:nvPr/>
        </p:nvSpPr>
        <p:spPr>
          <a:xfrm>
            <a:off x="6172200" y="2103120"/>
            <a:ext cx="141732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v1.0.2 已发布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697480" y="268833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应用功能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697480" y="298094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697480" y="2980944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录入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721608" y="298094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21608" y="2980944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查询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745736" y="298094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45736" y="2980944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排行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769864" y="298094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769864" y="2980944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当前余额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2697480" y="3419856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697480" y="3419856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未来余额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721608" y="3419856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721608" y="3419856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备份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45736" y="3419856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45736" y="3419856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设置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697480" y="3950208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约 3 个月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2697480" y="4261104"/>
            <a:ext cx="150876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业余时间完成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4297680" y="3950208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103 小时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4297680" y="4261104"/>
            <a:ext cx="150876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Cursor 协作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5897880" y="3950208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31 次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897880" y="4261104"/>
            <a:ext cx="150876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代码提交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2697480" y="4572000"/>
            <a:ext cx="5943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上架后同步推进推广与软件著作权申请，并按第一批用户反馈发布 1.0.2。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57200" y="4846320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Coding 保姆级指引（iOS 移动应用）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680960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06 / 19</a:t>
            </a:r>
            <a:endParaRPr lang="en-US" sz="850" dirty="0"/>
          </a:p>
        </p:txBody>
      </p:sp>
      <p:pic>
        <p:nvPicPr>
          <p:cNvPr id="38" name="图片 3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810" y="1261745"/>
            <a:ext cx="1648460" cy="35845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02 · 常见问题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三个最常被问到的问题</a:t>
            </a:r>
            <a:endParaRPr lang="en-US" sz="2500" dirty="0"/>
          </a:p>
        </p:txBody>
      </p:sp>
      <p:pic>
        <p:nvPicPr>
          <p:cNvPr id="4" name="Image 0" descr="images/image-faq_4x3.jp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02920" y="1600200"/>
            <a:ext cx="3108960" cy="2331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931920" y="1298448"/>
            <a:ext cx="475488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4114800" y="1426464"/>
            <a:ext cx="566928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C7293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Q1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681728" y="14173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需要花很多钱吗？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681728" y="1719072"/>
            <a:ext cx="38404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不需要。两个月的模型费用共 60 美元，使用最强思考强度和 fast 模式，业余开发的用量额度没有用完。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931920" y="2450592"/>
            <a:ext cx="475488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114800" y="2578608"/>
            <a:ext cx="566928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C7293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Q2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4681728" y="2569464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需要花很多时间吗？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681728" y="2871216"/>
            <a:ext cx="38404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需要。这项工作本身具有连续性，时间主要花在一轮一轮的确认和验收上。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931920" y="3602736"/>
            <a:ext cx="475488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114800" y="3730752"/>
            <a:ext cx="566928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C7293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Q3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681728" y="3721608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可以在实际项目中使用吗？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681728" y="4023360"/>
            <a:ext cx="38404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可以，条件是：人能定义目标、能验收结果、数据允许进入所用模型。涉密数据与无法验收的生产系统，不要交给 AI。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457200" y="4846320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Coding 保姆级指引（iOS 移动应用）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7680960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07/ 19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827">
              <a:alpha val="65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822960" y="11430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E8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核心结论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7680960" cy="10058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kern="0" spc="150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“人工智能目前可以完成一个复杂工程。”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22960" y="3063240"/>
            <a:ext cx="768096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CADCF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人负责目标、取舍和验收，AI 负责执行。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03 · 核心原则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100% AI Coding（</a:t>
            </a:r>
            <a:r>
              <a:rPr lang="zh-CN" alt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尽最大可能让</a:t>
            </a:r>
            <a:r>
              <a:rPr lang="en-US" altLang="zh-CN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AI</a:t>
            </a:r>
            <a:r>
              <a:rPr lang="zh-CN" alt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来完成全部工作</a:t>
            </a:r>
            <a:r>
              <a:rPr 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70916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527048"/>
            <a:ext cx="402336" cy="402336"/>
          </a:xfrm>
          <a:prstGeom prst="ellipse">
            <a:avLst/>
          </a:prstGeom>
          <a:solidFill>
            <a:srgbClr val="065A82"/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263" y="1631655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07008" y="1563624"/>
            <a:ext cx="374904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AI：执行者与建议者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207008" y="1947672"/>
            <a:ext cx="374904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代码、方案、文案、软著草稿、推广稿，尽最大可能由 AI 撰写——使用 AI 越充分，最终收益越大。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3044952"/>
            <a:ext cx="4709160" cy="1591056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76656" y="3246120"/>
            <a:ext cx="402336" cy="402336"/>
          </a:xfrm>
          <a:prstGeom prst="ellipse">
            <a:avLst/>
          </a:prstGeom>
          <a:solidFill>
            <a:srgbClr val="1C7293"/>
          </a:solidFill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63" y="3350727"/>
            <a:ext cx="193121" cy="1931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07008" y="3264408"/>
            <a:ext cx="374904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人：产品负责人与验收者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1207008" y="3611880"/>
            <a:ext cx="3749040" cy="9601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确定目标、做取舍、验收结果</a:t>
            </a:r>
            <a:endParaRPr lang="en-US" sz="100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申请开发者账号，处理协议与税务</a:t>
            </a:r>
            <a:endParaRPr lang="en-US" sz="100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真机测试与审核回复</a:t>
            </a:r>
            <a:endParaRPr lang="en-US" sz="100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提交软件著作权 · 推广投稿</a:t>
            </a:r>
            <a:endParaRPr lang="en-US" sz="1000" dirty="0"/>
          </a:p>
        </p:txBody>
      </p:sp>
      <p:pic>
        <p:nvPicPr>
          <p:cNvPr id="14" name="Image 2" descr="images/image-principle_4x3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440680" y="1325880"/>
            <a:ext cx="3246120" cy="243230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440680" y="3931920"/>
            <a:ext cx="3246120" cy="713232"/>
          </a:xfrm>
          <a:prstGeom prst="roundRect">
            <a:avLst>
              <a:gd name="adj" fmla="val 12821"/>
            </a:avLst>
          </a:prstGeom>
          <a:solidFill>
            <a:srgbClr val="EAF3F7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16" name="Text 11"/>
          <p:cNvSpPr/>
          <p:nvPr/>
        </p:nvSpPr>
        <p:spPr>
          <a:xfrm>
            <a:off x="5577840" y="4023360"/>
            <a:ext cx="2971800" cy="53035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“人负责把要求说清楚，并做出判断。”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457200" y="4846320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Coding 保姆级指引（iOS 移动应用）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7680960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09 / 19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04 · </a:t>
            </a:r>
            <a:r>
              <a:rPr lang="zh-CN" alt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方法、技巧、经验、建议</a:t>
            </a:r>
            <a:r>
              <a:rPr 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-</a:t>
            </a:r>
            <a:r>
              <a:rPr lang="zh-CN" alt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解决问题的</a:t>
            </a:r>
            <a:r>
              <a:rPr lang="zh-CN" alt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方法</a:t>
            </a:r>
            <a:endParaRPr lang="zh-CN" altLang="en-US" sz="1050" b="1" kern="0" spc="200" dirty="0">
              <a:solidFill>
                <a:srgbClr val="1C7293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algn="l">
              <a:buClrTx/>
              <a:buSzTx/>
              <a:buFontTx/>
              <a:buNone/>
            </a:pPr>
            <a:r>
              <a:rPr 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和AI携手沟通解决问题</a:t>
            </a:r>
            <a:endParaRPr lang="en-US" sz="2500" b="1" kern="0" spc="150" dirty="0">
              <a:solidFill>
                <a:srgbClr val="21295C"/>
              </a:solidFill>
              <a:latin typeface="Songti SC" panose="02010800040101010101" pitchFamily="34" charset="-122"/>
              <a:ea typeface="Songti SC" panose="02010800040101010101" pitchFamily="34" charset="-122"/>
              <a:cs typeface="Songti SC" panose="02010800040101010101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70916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85216" y="1380744"/>
            <a:ext cx="365760" cy="365760"/>
          </a:xfrm>
          <a:prstGeom prst="ellipse">
            <a:avLst/>
          </a:prstGeom>
          <a:solidFill>
            <a:srgbClr val="065A82"/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1475842"/>
            <a:ext cx="175565" cy="1755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78992" y="1325880"/>
            <a:ext cx="3931920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人规划，AI 执行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1892808"/>
            <a:ext cx="470916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5216" y="1947672"/>
            <a:ext cx="365760" cy="365760"/>
          </a:xfrm>
          <a:prstGeom prst="ellipse">
            <a:avLst/>
          </a:prstGeom>
          <a:solidFill>
            <a:srgbClr val="1C7293"/>
          </a:solidFill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2042770"/>
            <a:ext cx="175565" cy="17556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78992" y="1892808"/>
            <a:ext cx="3931920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人决定，AI 遵守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57200" y="2459736"/>
            <a:ext cx="470916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85216" y="2514600"/>
            <a:ext cx="365760" cy="365760"/>
          </a:xfrm>
          <a:prstGeom prst="ellipse">
            <a:avLst/>
          </a:prstGeom>
          <a:solidFill>
            <a:srgbClr val="065A82"/>
          </a:solidFill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2609698"/>
            <a:ext cx="175565" cy="17556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78992" y="2459736"/>
            <a:ext cx="3931920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人提问，AI 回答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457200" y="3026664"/>
            <a:ext cx="470916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585216" y="3081528"/>
            <a:ext cx="365760" cy="365760"/>
          </a:xfrm>
          <a:prstGeom prst="ellipse">
            <a:avLst/>
          </a:prstGeom>
          <a:solidFill>
            <a:srgbClr val="1C7293"/>
          </a:solidFill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4" y="3176626"/>
            <a:ext cx="175565" cy="17556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78992" y="3026664"/>
            <a:ext cx="3931920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提出建议，人做决策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457200" y="3593592"/>
            <a:ext cx="470916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585216" y="3648456"/>
            <a:ext cx="365760" cy="365760"/>
          </a:xfrm>
          <a:prstGeom prst="ellipse">
            <a:avLst/>
          </a:prstGeom>
          <a:solidFill>
            <a:srgbClr val="065A82"/>
          </a:solidFill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314" y="3743554"/>
            <a:ext cx="175565" cy="17556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078992" y="3593592"/>
            <a:ext cx="3931920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列举选项，人做取舍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457200" y="4224528"/>
            <a:ext cx="4709160" cy="475488"/>
          </a:xfrm>
          <a:prstGeom prst="roundRect">
            <a:avLst>
              <a:gd name="adj" fmla="val 19231"/>
            </a:avLst>
          </a:prstGeom>
          <a:solidFill>
            <a:srgbClr val="EAF3F7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25" name="Text 18"/>
          <p:cNvSpPr/>
          <p:nvPr/>
        </p:nvSpPr>
        <p:spPr>
          <a:xfrm>
            <a:off x="594360" y="4224528"/>
            <a:ext cx="4434840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每一轮：先说明要什么 → AI 出方案 → 人确认后再动手</a:t>
            </a:r>
            <a:endParaRPr lang="en-US" sz="1050" dirty="0"/>
          </a:p>
        </p:txBody>
      </p:sp>
      <p:pic>
        <p:nvPicPr>
          <p:cNvPr id="26" name="Image 5" descr="images/image-collab_4x3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5440680" y="1554480"/>
            <a:ext cx="3246120" cy="243230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440680" y="411480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人提要求，AI 干活；AI 提建议，人做决定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457200" y="4846320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Coding 保姆级指引（iOS 移动应用）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7680960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10 / 19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04 · </a:t>
            </a:r>
            <a:r>
              <a:rPr lang="zh-CN" alt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方法、技巧、经验、建议</a:t>
            </a:r>
            <a:r>
              <a:rPr 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-</a:t>
            </a:r>
            <a:r>
              <a:rPr lang="zh-CN" alt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重要</a:t>
            </a:r>
            <a:r>
              <a:rPr lang="zh-CN" alt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技巧</a:t>
            </a:r>
            <a:endParaRPr lang="zh-CN" altLang="en-US" sz="1050" b="1" kern="0" spc="200" dirty="0">
              <a:solidFill>
                <a:srgbClr val="1C7293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四个重要技巧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00500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508760"/>
            <a:ext cx="402336" cy="402336"/>
          </a:xfrm>
          <a:prstGeom prst="ellipse">
            <a:avLst/>
          </a:prstGeom>
          <a:solidFill>
            <a:srgbClr val="065A82"/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263" y="1613367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07008" y="1563624"/>
            <a:ext cx="304038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善用</a:t>
            </a:r>
            <a:r>
              <a:rPr lang="en-US" altLang="zh-CN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rules，</a:t>
            </a:r>
            <a:r>
              <a:rPr lang="zh-CN" alt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提前为</a:t>
            </a:r>
            <a:r>
              <a:rPr lang="en-US" altLang="zh-CN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</a:t>
            </a:r>
            <a:r>
              <a:rPr lang="zh-CN" alt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制定好</a:t>
            </a:r>
            <a:r>
              <a:rPr lang="zh-CN" alt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规则</a:t>
            </a:r>
            <a:endParaRPr lang="zh-CN" altLang="en-US" sz="1300" b="1" dirty="0">
              <a:solidFill>
                <a:srgbClr val="21295C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8" name="Text 5"/>
          <p:cNvSpPr/>
          <p:nvPr/>
        </p:nvSpPr>
        <p:spPr>
          <a:xfrm>
            <a:off x="694944" y="2039112"/>
            <a:ext cx="3525012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编码规范、界面风格、兼容性与文风，提前写进每次对话 AI 都能看见的 Rules；功能完成后再补，上架前会集中返工。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686300" y="1325880"/>
            <a:ext cx="4000500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05756" y="1508760"/>
            <a:ext cx="402336" cy="402336"/>
          </a:xfrm>
          <a:prstGeom prst="ellipse">
            <a:avLst/>
          </a:prstGeom>
          <a:solidFill>
            <a:srgbClr val="1C7293"/>
          </a:solidFill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363" y="1613367"/>
            <a:ext cx="193121" cy="1931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36235" y="1563370"/>
            <a:ext cx="3237230" cy="29273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准确的表达</a:t>
            </a:r>
            <a:r>
              <a:rPr lang="en-US" altLang="zh-CN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、</a:t>
            </a:r>
            <a:r>
              <a:rPr lang="zh-CN" alt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明确的指令</a:t>
            </a:r>
            <a:r>
              <a:rPr lang="en-US" altLang="zh-CN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，</a:t>
            </a:r>
            <a:r>
              <a:rPr lang="zh-CN" alt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提高代码有效</a:t>
            </a:r>
            <a:r>
              <a:rPr lang="zh-CN" alt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性</a:t>
            </a:r>
            <a:endParaRPr lang="zh-CN" altLang="en-US" sz="1300" b="1" dirty="0">
              <a:solidFill>
                <a:srgbClr val="21295C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924044" y="2039112"/>
            <a:ext cx="3525012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页面如何划分、点击何处出现什么、哪些字段必填，都写到能够验收；具体实现交给 AI。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3136392"/>
            <a:ext cx="4000500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76656" y="3319272"/>
            <a:ext cx="402336" cy="402336"/>
          </a:xfrm>
          <a:prstGeom prst="ellipse">
            <a:avLst/>
          </a:prstGeom>
          <a:solidFill>
            <a:srgbClr val="065A82"/>
          </a:solidFill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263" y="3423879"/>
            <a:ext cx="193121" cy="1931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07135" y="3374390"/>
            <a:ext cx="3040380" cy="4445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张弛有度</a:t>
            </a:r>
            <a:r>
              <a:rPr lang="en-US" altLang="zh-CN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，</a:t>
            </a:r>
            <a:r>
              <a:rPr lang="zh-CN" alt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适时让</a:t>
            </a:r>
            <a:r>
              <a:rPr lang="en-US" altLang="zh-CN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</a:t>
            </a:r>
            <a:r>
              <a:rPr lang="zh-CN" alt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自己发挥</a:t>
            </a:r>
            <a:r>
              <a:rPr lang="en-US" altLang="zh-CN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，</a:t>
            </a:r>
            <a:r>
              <a:rPr lang="zh-CN" alt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会有额外</a:t>
            </a:r>
            <a:r>
              <a:rPr lang="zh-CN" alt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惊喜</a:t>
            </a:r>
            <a:endParaRPr lang="zh-CN" altLang="en-US" sz="1300" b="1" dirty="0">
              <a:solidFill>
                <a:srgbClr val="21295C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694944" y="3849624"/>
            <a:ext cx="3525012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总体方向由人把握；尚未想清楚的交互，让 AI 先给几种做法并比较优缺点，再由人选择。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686300" y="3136392"/>
            <a:ext cx="4000500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05756" y="3319272"/>
            <a:ext cx="402336" cy="402336"/>
          </a:xfrm>
          <a:prstGeom prst="ellipse">
            <a:avLst/>
          </a:prstGeom>
          <a:solidFill>
            <a:srgbClr val="1C7293"/>
          </a:solidFill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363" y="3423879"/>
            <a:ext cx="193121" cy="1931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36235" y="3374390"/>
            <a:ext cx="3040380" cy="43878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让AI</a:t>
            </a:r>
            <a:r>
              <a:rPr lang="zh-CN" alt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来查</a:t>
            </a:r>
            <a:r>
              <a:rPr lang="en-US" altLang="zh-CN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AI（</a:t>
            </a:r>
            <a:r>
              <a:rPr lang="zh-CN" alt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让英雄来查英雄</a:t>
            </a:r>
            <a:r>
              <a:rPr lang="en-US" altLang="zh-CN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，</a:t>
            </a:r>
            <a:r>
              <a:rPr lang="zh-CN" alt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让好汉来查好汉</a:t>
            </a:r>
            <a:r>
              <a:rPr lang="en-US" altLang="zh-CN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）</a:t>
            </a:r>
            <a:endParaRPr lang="en-US" altLang="zh-CN" sz="1300" b="1" dirty="0">
              <a:solidFill>
                <a:srgbClr val="21295C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4924044" y="3849624"/>
            <a:ext cx="3525012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一段功能完成后复查；收尾与上架前收紧任务，只查找重大缺陷，不再增加新功能。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457200" y="4846320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Coding 保姆级指引（iOS 移动应用）</a:t>
            </a:r>
            <a:endParaRPr lang="en-US" sz="850" dirty="0"/>
          </a:p>
        </p:txBody>
      </p:sp>
      <p:sp>
        <p:nvSpPr>
          <p:cNvPr id="25" name="Text 19"/>
          <p:cNvSpPr/>
          <p:nvPr/>
        </p:nvSpPr>
        <p:spPr>
          <a:xfrm>
            <a:off x="7680960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11 / 19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04 · </a:t>
            </a:r>
            <a:r>
              <a:rPr lang="zh-CN" alt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方法、技巧、经验、建议</a:t>
            </a:r>
            <a:r>
              <a:rPr 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-</a:t>
            </a:r>
            <a:r>
              <a:rPr lang="zh-CN" alt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我踩的坑及相应的</a:t>
            </a:r>
            <a:r>
              <a:rPr lang="zh-CN" alt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对策</a:t>
            </a:r>
            <a:endParaRPr lang="zh-CN" altLang="en-US" sz="1050" b="1" kern="0" spc="200" dirty="0">
              <a:solidFill>
                <a:srgbClr val="1C7293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zh-CN" alt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我踩的坑及相应的对策</a:t>
            </a:r>
            <a:r>
              <a:rPr 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：八条实战经验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40005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03504" y="1499616"/>
            <a:ext cx="329184" cy="329184"/>
          </a:xfrm>
          <a:prstGeom prst="ellipse">
            <a:avLst/>
          </a:prstGeom>
          <a:solidFill>
            <a:srgbClr val="065A82"/>
          </a:solidFill>
        </p:spPr>
      </p:sp>
      <p:sp>
        <p:nvSpPr>
          <p:cNvPr id="6" name="Text 4"/>
          <p:cNvSpPr/>
          <p:nvPr/>
        </p:nvSpPr>
        <p:spPr>
          <a:xfrm>
            <a:off x="603504" y="1499616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60704" y="1371600"/>
            <a:ext cx="32232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你是产品经理</a:t>
            </a:r>
            <a:r>
              <a:rPr lang="en-US" altLang="zh-CN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，</a:t>
            </a: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不是</a:t>
            </a: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程序员</a:t>
            </a:r>
            <a:endParaRPr lang="zh-CN" altLang="en-US" sz="1100" b="1" dirty="0">
              <a:solidFill>
                <a:srgbClr val="21295C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60704" y="1664208"/>
            <a:ext cx="322326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下达可验收的指令，不介入具体实现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86300" y="1298448"/>
            <a:ext cx="40005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32604" y="1499616"/>
            <a:ext cx="329184" cy="329184"/>
          </a:xfrm>
          <a:prstGeom prst="ellipse">
            <a:avLst/>
          </a:prstGeom>
          <a:solidFill>
            <a:srgbClr val="1C7293"/>
          </a:solidFill>
        </p:spPr>
      </p:sp>
      <p:sp>
        <p:nvSpPr>
          <p:cNvPr id="11" name="Text 9"/>
          <p:cNvSpPr/>
          <p:nvPr/>
        </p:nvSpPr>
        <p:spPr>
          <a:xfrm>
            <a:off x="4832604" y="1499616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89804" y="1371600"/>
            <a:ext cx="32232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要多想但也别想</a:t>
            </a: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过多</a:t>
            </a:r>
            <a:endParaRPr lang="zh-CN" altLang="en-US" sz="1100" b="1" dirty="0">
              <a:solidFill>
                <a:srgbClr val="21295C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289804" y="1664208"/>
            <a:ext cx="322326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方向正确即可推进，不被单页细节挡住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185416"/>
            <a:ext cx="40005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" y="2386584"/>
            <a:ext cx="329184" cy="329184"/>
          </a:xfrm>
          <a:prstGeom prst="ellipse">
            <a:avLst/>
          </a:prstGeom>
          <a:solidFill>
            <a:srgbClr val="065A82"/>
          </a:solidFill>
        </p:spPr>
      </p:sp>
      <p:sp>
        <p:nvSpPr>
          <p:cNvPr id="16" name="Text 14"/>
          <p:cNvSpPr/>
          <p:nvPr/>
        </p:nvSpPr>
        <p:spPr>
          <a:xfrm>
            <a:off x="603504" y="2386584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60704" y="2258568"/>
            <a:ext cx="32232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商店规则会改写商业设想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0704" y="2551176"/>
            <a:ext cx="322326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买断改为免费下载 + 内购，提前确认规则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86300" y="2185416"/>
            <a:ext cx="40005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32604" y="2386584"/>
            <a:ext cx="329184" cy="329184"/>
          </a:xfrm>
          <a:prstGeom prst="ellipse">
            <a:avLst/>
          </a:prstGeom>
          <a:solidFill>
            <a:srgbClr val="1C7293"/>
          </a:solidFill>
        </p:spPr>
      </p:sp>
      <p:sp>
        <p:nvSpPr>
          <p:cNvPr id="21" name="Text 19"/>
          <p:cNvSpPr/>
          <p:nvPr/>
        </p:nvSpPr>
        <p:spPr>
          <a:xfrm>
            <a:off x="4832604" y="2386584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89804" y="2258568"/>
            <a:ext cx="32232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人教</a:t>
            </a:r>
            <a:r>
              <a:rPr lang="en-US" altLang="zh-CN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 AI </a:t>
            </a: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教不会</a:t>
            </a:r>
            <a:r>
              <a:rPr lang="en-US" altLang="zh-CN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，</a:t>
            </a: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图教</a:t>
            </a:r>
            <a:r>
              <a:rPr lang="en-US" altLang="zh-CN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 AI </a:t>
            </a: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一把就会</a:t>
            </a: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了</a:t>
            </a:r>
            <a:endParaRPr lang="zh-CN" altLang="en-US" sz="1100" b="1" dirty="0">
              <a:solidFill>
                <a:srgbClr val="21295C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289804" y="2551176"/>
            <a:ext cx="322326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界面问题直接截图标注，AI 更容易定位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3072384"/>
            <a:ext cx="40005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" y="3273552"/>
            <a:ext cx="329184" cy="329184"/>
          </a:xfrm>
          <a:prstGeom prst="ellipse">
            <a:avLst/>
          </a:prstGeom>
          <a:solidFill>
            <a:srgbClr val="065A82"/>
          </a:solidFill>
        </p:spPr>
      </p:sp>
      <p:sp>
        <p:nvSpPr>
          <p:cNvPr id="26" name="Text 24"/>
          <p:cNvSpPr/>
          <p:nvPr/>
        </p:nvSpPr>
        <p:spPr>
          <a:xfrm>
            <a:off x="603504" y="3273552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60704" y="3145536"/>
            <a:ext cx="32232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反复修不好</a:t>
            </a:r>
            <a:r>
              <a:rPr lang="en-US" altLang="zh-CN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，</a:t>
            </a: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不如</a:t>
            </a: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重写</a:t>
            </a:r>
            <a:endParaRPr lang="zh-CN" altLang="en-US" sz="1100" b="1" dirty="0">
              <a:solidFill>
                <a:srgbClr val="21295C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60704" y="3438144"/>
            <a:ext cx="322326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绕进错误路径时，重写比继续修补更有效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86300" y="3072384"/>
            <a:ext cx="40005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32604" y="3273552"/>
            <a:ext cx="329184" cy="329184"/>
          </a:xfrm>
          <a:prstGeom prst="ellipse">
            <a:avLst/>
          </a:prstGeom>
          <a:solidFill>
            <a:srgbClr val="1C7293"/>
          </a:solidFill>
        </p:spPr>
      </p:sp>
      <p:sp>
        <p:nvSpPr>
          <p:cNvPr id="31" name="Text 29"/>
          <p:cNvSpPr/>
          <p:nvPr/>
        </p:nvSpPr>
        <p:spPr>
          <a:xfrm>
            <a:off x="4832604" y="3273552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289804" y="3145536"/>
            <a:ext cx="32232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</a:t>
            </a: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说完成了</a:t>
            </a:r>
            <a:r>
              <a:rPr lang="en-US" altLang="zh-CN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，</a:t>
            </a:r>
            <a:r>
              <a:rPr 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验收</a:t>
            </a: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仍然由人来</a:t>
            </a: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做</a:t>
            </a:r>
            <a:endParaRPr lang="zh-CN" altLang="en-US" sz="1100" b="1" dirty="0">
              <a:solidFill>
                <a:srgbClr val="21295C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289804" y="3438144"/>
            <a:ext cx="322326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</a:t>
            </a:r>
            <a:r>
              <a:rPr lang="zh-CN" altLang="en-US" sz="9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说做完了</a:t>
            </a:r>
            <a:r>
              <a:rPr lang="en-US" altLang="zh-CN" sz="9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，</a:t>
            </a:r>
            <a:r>
              <a:rPr lang="zh-CN" altLang="en-US" sz="9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只说明它认为做完</a:t>
            </a:r>
            <a:r>
              <a:rPr lang="zh-CN" altLang="en-US" sz="9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了</a:t>
            </a:r>
            <a:endParaRPr lang="zh-CN" altLang="en-US" sz="950" dirty="0">
              <a:solidFill>
                <a:srgbClr val="64748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57200" y="3959352"/>
            <a:ext cx="40005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03504" y="4160520"/>
            <a:ext cx="329184" cy="329184"/>
          </a:xfrm>
          <a:prstGeom prst="ellipse">
            <a:avLst/>
          </a:prstGeom>
          <a:solidFill>
            <a:srgbClr val="065A82"/>
          </a:solidFill>
        </p:spPr>
      </p:sp>
      <p:sp>
        <p:nvSpPr>
          <p:cNvPr id="36" name="Text 34"/>
          <p:cNvSpPr/>
          <p:nvPr/>
        </p:nvSpPr>
        <p:spPr>
          <a:xfrm>
            <a:off x="603504" y="4160520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060704" y="4032504"/>
            <a:ext cx="32232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不要重复造</a:t>
            </a: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轮子</a:t>
            </a:r>
            <a:endParaRPr lang="zh-CN" altLang="en-US" sz="1100" b="1" dirty="0">
              <a:solidFill>
                <a:srgbClr val="21295C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60704" y="4325112"/>
            <a:ext cx="322326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CN" altLang="en-US" sz="9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复用现成能力与已有界面</a:t>
            </a:r>
            <a:endParaRPr lang="zh-CN" altLang="en-US" sz="950" dirty="0">
              <a:solidFill>
                <a:srgbClr val="64748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686300" y="3959352"/>
            <a:ext cx="40005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832604" y="4160520"/>
            <a:ext cx="329184" cy="329184"/>
          </a:xfrm>
          <a:prstGeom prst="ellipse">
            <a:avLst/>
          </a:prstGeom>
          <a:solidFill>
            <a:srgbClr val="1C7293"/>
          </a:solidFill>
        </p:spPr>
      </p:sp>
      <p:sp>
        <p:nvSpPr>
          <p:cNvPr id="41" name="Text 39"/>
          <p:cNvSpPr/>
          <p:nvPr/>
        </p:nvSpPr>
        <p:spPr>
          <a:xfrm>
            <a:off x="4832604" y="4160520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8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289804" y="4032504"/>
            <a:ext cx="32232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模型千千万</a:t>
            </a:r>
            <a:r>
              <a:rPr lang="en-US" altLang="zh-CN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，</a:t>
            </a: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各有各的</a:t>
            </a:r>
            <a:r>
              <a:rPr lang="zh-CN" altLang="en-US" sz="11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优点</a:t>
            </a:r>
            <a:endParaRPr lang="zh-CN" altLang="en-US" sz="1100" b="1" dirty="0">
              <a:solidFill>
                <a:srgbClr val="21295C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289804" y="4325112"/>
            <a:ext cx="322326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zh-CN" altLang="en-US" sz="9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按任务选择模型</a:t>
            </a:r>
            <a:endParaRPr lang="zh-CN" altLang="en-US" sz="950" dirty="0">
              <a:solidFill>
                <a:srgbClr val="64748B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57200" y="4846320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Coding 保姆级指引（iOS 移动应用）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680960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12 / 19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04 · </a:t>
            </a:r>
            <a:r>
              <a:rPr lang="zh-CN" alt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方法、技巧、经验、建议</a:t>
            </a:r>
            <a:r>
              <a:rPr 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-</a:t>
            </a:r>
            <a:r>
              <a:rPr lang="zh-CN" alt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我的建议</a:t>
            </a:r>
            <a:endParaRPr lang="zh-CN" altLang="en-US" sz="1050" b="1" kern="0" spc="200" dirty="0">
              <a:solidFill>
                <a:srgbClr val="1C7293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567055"/>
            <a:ext cx="8229600" cy="101727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80000"/>
          </a:bodyPr>
          <a:lstStyle/>
          <a:p>
            <a:pPr marL="0" indent="0">
              <a:buNone/>
            </a:pPr>
            <a:r>
              <a:rPr lang="en-US" altLang="zh-CN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1.</a:t>
            </a:r>
            <a:r>
              <a:rPr lang="zh-CN" alt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引入标准开发流程</a:t>
            </a:r>
            <a:r>
              <a:rPr 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：</a:t>
            </a:r>
            <a:r>
              <a:rPr lang="en-US" sz="175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每一轮都走同一条路</a:t>
            </a:r>
            <a:endParaRPr lang="en-US" sz="2500" b="1" kern="0" spc="150" dirty="0">
              <a:solidFill>
                <a:srgbClr val="21295C"/>
              </a:solidFill>
              <a:latin typeface="Songti SC" panose="02010800040101010101" pitchFamily="34" charset="-122"/>
              <a:ea typeface="Songti SC" panose="02010800040101010101" pitchFamily="34" charset="-122"/>
              <a:cs typeface="Songti SC" panose="02010800040101010101" pitchFamily="34" charset="-120"/>
            </a:endParaRPr>
          </a:p>
          <a:p>
            <a:pPr marL="0" algn="l">
              <a:buClrTx/>
              <a:buSzTx/>
              <a:buFontTx/>
              <a:buNone/>
            </a:pPr>
            <a:r>
              <a:rPr lang="en-US" altLang="zh-CN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2.</a:t>
            </a:r>
            <a:r>
              <a:rPr lang="zh-CN" alt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just do it</a:t>
            </a:r>
            <a:r>
              <a:rPr lang="en-US" altLang="zh-CN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：</a:t>
            </a:r>
            <a:r>
              <a:rPr lang="zh-CN" altLang="en-US" sz="175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实际走一遍全流程，比什么都管用</a:t>
            </a:r>
            <a:endParaRPr lang="zh-CN" altLang="en-US" sz="2500" b="1" kern="0" spc="150" dirty="0">
              <a:solidFill>
                <a:srgbClr val="21295C"/>
              </a:solidFill>
              <a:latin typeface="Songti SC" panose="02010800040101010101" pitchFamily="34" charset="-122"/>
              <a:ea typeface="Songti SC" panose="02010800040101010101" pitchFamily="34" charset="-122"/>
              <a:cs typeface="Songti SC" panose="02010800040101010101" pitchFamily="34" charset="-120"/>
            </a:endParaRPr>
          </a:p>
          <a:p>
            <a:pPr marL="0" algn="l">
              <a:buClrTx/>
              <a:buSzTx/>
              <a:buFontTx/>
              <a:buNone/>
            </a:pPr>
            <a:r>
              <a:rPr lang="en-US" altLang="zh-CN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3.</a:t>
            </a:r>
            <a:r>
              <a:rPr lang="zh-CN" alt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备份</a:t>
            </a:r>
            <a:r>
              <a:rPr lang="zh-CN" alt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是个好习惯：</a:t>
            </a:r>
            <a:r>
              <a:rPr lang="zh-CN" altLang="en-US" sz="175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没事咱就commit</a:t>
            </a:r>
            <a:endParaRPr lang="zh-CN" altLang="en-US" sz="1750" b="1" kern="0" spc="150" dirty="0">
              <a:solidFill>
                <a:srgbClr val="21295C"/>
              </a:solidFill>
              <a:latin typeface="Songti SC" panose="02010800040101010101" pitchFamily="34" charset="-122"/>
              <a:ea typeface="Songti SC" panose="02010800040101010101" pitchFamily="34" charset="-122"/>
              <a:cs typeface="Songti SC" panose="02010800040101010101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95528" y="1743075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74307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200275"/>
            <a:ext cx="987552" cy="603504"/>
          </a:xfrm>
          <a:prstGeom prst="roundRect">
            <a:avLst>
              <a:gd name="adj" fmla="val 18182"/>
            </a:avLst>
          </a:prstGeom>
          <a:solidFill>
            <a:srgbClr val="065A82"/>
          </a:solidFill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2200275"/>
            <a:ext cx="987552" cy="6035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一轮一事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472184" y="2502027"/>
            <a:ext cx="164592" cy="0"/>
          </a:xfrm>
          <a:prstGeom prst="line">
            <a:avLst/>
          </a:prstGeom>
          <a:noFill/>
          <a:ln w="1905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002536" y="1743075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02536" y="174307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7293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664208" y="2200275"/>
            <a:ext cx="987552" cy="603504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664208" y="2200275"/>
            <a:ext cx="987552" cy="6035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出方案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679192" y="2502027"/>
            <a:ext cx="164592" cy="0"/>
          </a:xfrm>
          <a:prstGeom prst="line">
            <a:avLst/>
          </a:prstGeom>
          <a:noFill/>
          <a:ln w="1905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209544" y="1743075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9544" y="174307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71216" y="2200275"/>
            <a:ext cx="987552" cy="603504"/>
          </a:xfrm>
          <a:prstGeom prst="roundRect">
            <a:avLst>
              <a:gd name="adj" fmla="val 18182"/>
            </a:avLst>
          </a:prstGeom>
          <a:solidFill>
            <a:srgbClr val="065A82"/>
          </a:solidFill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871216" y="2200275"/>
            <a:ext cx="987552" cy="6035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人确认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86200" y="2502027"/>
            <a:ext cx="164592" cy="0"/>
          </a:xfrm>
          <a:prstGeom prst="line">
            <a:avLst/>
          </a:prstGeom>
          <a:noFill/>
          <a:ln w="1905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16552" y="1743075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174307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7293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078224" y="2200275"/>
            <a:ext cx="987552" cy="603504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078224" y="2200275"/>
            <a:ext cx="987552" cy="6035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实现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93208" y="2502027"/>
            <a:ext cx="164592" cy="0"/>
          </a:xfrm>
          <a:prstGeom prst="line">
            <a:avLst/>
          </a:prstGeom>
          <a:noFill/>
          <a:ln w="1905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623560" y="1743075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23560" y="174307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285232" y="2200275"/>
            <a:ext cx="987552" cy="603504"/>
          </a:xfrm>
          <a:prstGeom prst="roundRect">
            <a:avLst>
              <a:gd name="adj" fmla="val 18182"/>
            </a:avLst>
          </a:prstGeom>
          <a:solidFill>
            <a:srgbClr val="065A82"/>
          </a:solidFill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285232" y="2200275"/>
            <a:ext cx="987552" cy="6035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人验收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00216" y="2502027"/>
            <a:ext cx="164592" cy="0"/>
          </a:xfrm>
          <a:prstGeom prst="line">
            <a:avLst/>
          </a:prstGeom>
          <a:noFill/>
          <a:ln w="1905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830568" y="1743075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30568" y="174307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7293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92240" y="2200275"/>
            <a:ext cx="987552" cy="603504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92240" y="2200275"/>
            <a:ext cx="987552" cy="6035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复查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507224" y="2502027"/>
            <a:ext cx="164592" cy="0"/>
          </a:xfrm>
          <a:prstGeom prst="line">
            <a:avLst/>
          </a:prstGeom>
          <a:noFill/>
          <a:ln w="1905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037576" y="1743075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37576" y="174307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699248" y="2200275"/>
            <a:ext cx="987552" cy="603504"/>
          </a:xfrm>
          <a:prstGeom prst="roundRect">
            <a:avLst>
              <a:gd name="adj" fmla="val 18182"/>
            </a:avLst>
          </a:prstGeom>
          <a:solidFill>
            <a:srgbClr val="065A82"/>
          </a:solidFill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699248" y="2200275"/>
            <a:ext cx="987552" cy="6035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提交 commit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57200" y="3063240"/>
            <a:ext cx="8229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31520" y="3246120"/>
            <a:ext cx="768096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为什么需要标准</a:t>
            </a:r>
            <a:r>
              <a:rPr lang="zh-CN" alt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开发</a:t>
            </a:r>
            <a:r>
              <a:rPr lang="zh-CN" altLang="en-US" sz="13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流程</a:t>
            </a:r>
            <a:endParaRPr lang="zh-CN" altLang="en-US" sz="1300" b="1" dirty="0">
              <a:solidFill>
                <a:srgbClr val="21295C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731520" y="3593592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隔几天再打开工程，人很容易忘记上一轮做到哪里。每一轮只做一个页面或一件事，走同一个循环，就不靠记忆推进。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31520" y="3977640"/>
            <a:ext cx="768096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上架、内购等隔一段时间还会再用的决定，写成文档保留。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57200" y="4846320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Coding 保姆级指引（iOS 移动应用）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7680960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13 / 19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827">
              <a:alpha val="65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822960" y="11430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E8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休息一下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7680960" cy="10058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kern="0" spc="150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玩个互动小游戏吧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22960" y="3063240"/>
            <a:ext cx="768096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CADCF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放松两分钟，回来进入 05 · 实操时间线。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05 · 实操时间线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三个月，三段推进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1371600" cy="1005840"/>
          </a:xfrm>
          <a:prstGeom prst="roundRect">
            <a:avLst>
              <a:gd name="adj" fmla="val 9091"/>
            </a:avLst>
          </a:prstGeom>
          <a:solidFill>
            <a:srgbClr val="21295C"/>
          </a:solidFill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444752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100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阶段一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181051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CADCF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8.04 – 9.21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011680" y="1298448"/>
            <a:ext cx="66751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212848" y="138988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功能按页面循环推进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394960" y="1389888"/>
            <a:ext cx="310896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一轮只做一个页面或一件事，设计与编码交替，测试穿插其中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212848" y="1773936"/>
            <a:ext cx="723682" cy="365760"/>
          </a:xfrm>
          <a:prstGeom prst="roundRect">
            <a:avLst>
              <a:gd name="adj" fmla="val 20000"/>
            </a:avLst>
          </a:prstGeom>
          <a:solidFill>
            <a:srgbClr val="EAF3F7"/>
          </a:solidFill>
        </p:spPr>
      </p:sp>
      <p:sp>
        <p:nvSpPr>
          <p:cNvPr id="11" name="Text 9"/>
          <p:cNvSpPr/>
          <p:nvPr/>
        </p:nvSpPr>
        <p:spPr>
          <a:xfrm>
            <a:off x="2212848" y="1773936"/>
            <a:ext cx="723682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u="sng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主界面</a:t>
            </a:r>
            <a:endParaRPr lang="en-US" sz="950" u="sng" dirty="0"/>
          </a:p>
        </p:txBody>
      </p:sp>
      <p:sp>
        <p:nvSpPr>
          <p:cNvPr id="12" name="Shape 10"/>
          <p:cNvSpPr/>
          <p:nvPr/>
        </p:nvSpPr>
        <p:spPr>
          <a:xfrm>
            <a:off x="2963962" y="1956816"/>
            <a:ext cx="146304" cy="0"/>
          </a:xfrm>
          <a:prstGeom prst="line">
            <a:avLst/>
          </a:prstGeom>
          <a:noFill/>
          <a:ln w="15875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137698" y="1773936"/>
            <a:ext cx="723682" cy="365760"/>
          </a:xfrm>
          <a:prstGeom prst="roundRect">
            <a:avLst>
              <a:gd name="adj" fmla="val 20000"/>
            </a:avLst>
          </a:prstGeom>
          <a:solidFill>
            <a:srgbClr val="EAF3F7"/>
          </a:solidFill>
        </p:spPr>
      </p:sp>
      <p:sp>
        <p:nvSpPr>
          <p:cNvPr id="14" name="Text 12"/>
          <p:cNvSpPr/>
          <p:nvPr/>
        </p:nvSpPr>
        <p:spPr>
          <a:xfrm>
            <a:off x="3137698" y="1773936"/>
            <a:ext cx="723682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头像昵称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888813" y="1956816"/>
            <a:ext cx="146304" cy="0"/>
          </a:xfrm>
          <a:prstGeom prst="line">
            <a:avLst/>
          </a:prstGeom>
          <a:noFill/>
          <a:ln w="15875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062549" y="1773936"/>
            <a:ext cx="723682" cy="365760"/>
          </a:xfrm>
          <a:prstGeom prst="roundRect">
            <a:avLst>
              <a:gd name="adj" fmla="val 20000"/>
            </a:avLst>
          </a:prstGeom>
          <a:solidFill>
            <a:srgbClr val="EAF3F7"/>
          </a:solidFill>
        </p:spPr>
      </p:sp>
      <p:sp>
        <p:nvSpPr>
          <p:cNvPr id="17" name="Text 15"/>
          <p:cNvSpPr/>
          <p:nvPr/>
        </p:nvSpPr>
        <p:spPr>
          <a:xfrm>
            <a:off x="4062549" y="1773936"/>
            <a:ext cx="723682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u="sng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图标</a:t>
            </a:r>
            <a:endParaRPr lang="en-US" sz="950" b="1" u="sng" dirty="0">
              <a:solidFill>
                <a:srgbClr val="065A82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813663" y="1956816"/>
            <a:ext cx="146304" cy="0"/>
          </a:xfrm>
          <a:prstGeom prst="line">
            <a:avLst/>
          </a:prstGeom>
          <a:noFill/>
          <a:ln w="15875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987399" y="1773936"/>
            <a:ext cx="723682" cy="365760"/>
          </a:xfrm>
          <a:prstGeom prst="roundRect">
            <a:avLst>
              <a:gd name="adj" fmla="val 20000"/>
            </a:avLst>
          </a:prstGeom>
          <a:solidFill>
            <a:srgbClr val="EAF3F7"/>
          </a:solidFill>
        </p:spPr>
      </p:sp>
      <p:sp>
        <p:nvSpPr>
          <p:cNvPr id="20" name="Text 18"/>
          <p:cNvSpPr/>
          <p:nvPr/>
        </p:nvSpPr>
        <p:spPr>
          <a:xfrm>
            <a:off x="4987399" y="1773936"/>
            <a:ext cx="723682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录入页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738513" y="1956816"/>
            <a:ext cx="146304" cy="0"/>
          </a:xfrm>
          <a:prstGeom prst="line">
            <a:avLst/>
          </a:prstGeom>
          <a:noFill/>
          <a:ln w="15875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912249" y="1773936"/>
            <a:ext cx="723682" cy="365760"/>
          </a:xfrm>
          <a:prstGeom prst="roundRect">
            <a:avLst>
              <a:gd name="adj" fmla="val 20000"/>
            </a:avLst>
          </a:prstGeom>
          <a:solidFill>
            <a:srgbClr val="EAF3F7"/>
          </a:solidFill>
        </p:spPr>
      </p:sp>
      <p:sp>
        <p:nvSpPr>
          <p:cNvPr id="23" name="Text 21"/>
          <p:cNvSpPr/>
          <p:nvPr/>
        </p:nvSpPr>
        <p:spPr>
          <a:xfrm>
            <a:off x="5912249" y="1773936"/>
            <a:ext cx="723682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u="sng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查询排错</a:t>
            </a:r>
            <a:endParaRPr lang="en-US" sz="950" u="sng" dirty="0"/>
          </a:p>
        </p:txBody>
      </p:sp>
      <p:sp>
        <p:nvSpPr>
          <p:cNvPr id="24" name="Shape 22"/>
          <p:cNvSpPr/>
          <p:nvPr/>
        </p:nvSpPr>
        <p:spPr>
          <a:xfrm>
            <a:off x="6663363" y="1956816"/>
            <a:ext cx="146304" cy="0"/>
          </a:xfrm>
          <a:prstGeom prst="line">
            <a:avLst/>
          </a:prstGeom>
          <a:noFill/>
          <a:ln w="15875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837099" y="1773936"/>
            <a:ext cx="723682" cy="365760"/>
          </a:xfrm>
          <a:prstGeom prst="roundRect">
            <a:avLst>
              <a:gd name="adj" fmla="val 20000"/>
            </a:avLst>
          </a:prstGeom>
          <a:solidFill>
            <a:srgbClr val="EAF3F7"/>
          </a:solidFill>
        </p:spPr>
      </p:sp>
      <p:sp>
        <p:nvSpPr>
          <p:cNvPr id="26" name="Text 24"/>
          <p:cNvSpPr/>
          <p:nvPr/>
        </p:nvSpPr>
        <p:spPr>
          <a:xfrm>
            <a:off x="6837099" y="1773936"/>
            <a:ext cx="723682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u="sng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设置页</a:t>
            </a:r>
            <a:endParaRPr lang="en-US" sz="950" u="sng" dirty="0"/>
          </a:p>
        </p:txBody>
      </p:sp>
      <p:sp>
        <p:nvSpPr>
          <p:cNvPr id="27" name="Shape 25"/>
          <p:cNvSpPr/>
          <p:nvPr/>
        </p:nvSpPr>
        <p:spPr>
          <a:xfrm>
            <a:off x="7588214" y="1956816"/>
            <a:ext cx="146304" cy="0"/>
          </a:xfrm>
          <a:prstGeom prst="line">
            <a:avLst/>
          </a:prstGeom>
          <a:noFill/>
          <a:ln w="15875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761950" y="1773936"/>
            <a:ext cx="723682" cy="365760"/>
          </a:xfrm>
          <a:prstGeom prst="roundRect">
            <a:avLst>
              <a:gd name="adj" fmla="val 20000"/>
            </a:avLst>
          </a:prstGeom>
          <a:solidFill>
            <a:srgbClr val="EAF3F7"/>
          </a:solidFill>
        </p:spPr>
      </p:sp>
      <p:sp>
        <p:nvSpPr>
          <p:cNvPr id="29" name="Text 27"/>
          <p:cNvSpPr/>
          <p:nvPr/>
        </p:nvSpPr>
        <p:spPr>
          <a:xfrm>
            <a:off x="7761950" y="1773936"/>
            <a:ext cx="723682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u="sng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功能复查</a:t>
            </a:r>
            <a:endParaRPr lang="en-US" sz="950" b="1" u="sng" dirty="0">
              <a:solidFill>
                <a:srgbClr val="065A82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" y="2432304"/>
            <a:ext cx="1371600" cy="1005840"/>
          </a:xfrm>
          <a:prstGeom prst="roundRect">
            <a:avLst>
              <a:gd name="adj" fmla="val 9091"/>
            </a:avLst>
          </a:prstGeom>
          <a:solidFill>
            <a:srgbClr val="065A82"/>
          </a:solidFill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57200" y="257860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100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阶段二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457200" y="294436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CADCF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9.21 – 9.30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011680" y="2432304"/>
            <a:ext cx="66751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2212848" y="2523744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上架前集中处理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394960" y="2523744"/>
            <a:ext cx="310896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开发者账号、内购、隐私政策、兼容性与验收，集中补齐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212848" y="2907792"/>
            <a:ext cx="896112" cy="365760"/>
          </a:xfrm>
          <a:prstGeom prst="roundRect">
            <a:avLst>
              <a:gd name="adj" fmla="val 20000"/>
            </a:avLst>
          </a:prstGeom>
          <a:solidFill>
            <a:srgbClr val="EAF3F7"/>
          </a:solidFill>
        </p:spPr>
      </p:sp>
      <p:sp>
        <p:nvSpPr>
          <p:cNvPr id="37" name="Text 35"/>
          <p:cNvSpPr/>
          <p:nvPr/>
        </p:nvSpPr>
        <p:spPr>
          <a:xfrm>
            <a:off x="2212848" y="2907792"/>
            <a:ext cx="896112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兼容补齐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136392" y="3090672"/>
            <a:ext cx="146304" cy="0"/>
          </a:xfrm>
          <a:prstGeom prst="line">
            <a:avLst/>
          </a:prstGeom>
          <a:noFill/>
          <a:ln w="15875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3310128" y="2907792"/>
            <a:ext cx="896112" cy="365760"/>
          </a:xfrm>
          <a:prstGeom prst="roundRect">
            <a:avLst>
              <a:gd name="adj" fmla="val 20000"/>
            </a:avLst>
          </a:prstGeom>
          <a:solidFill>
            <a:srgbClr val="EAF3F7"/>
          </a:solidFill>
        </p:spPr>
      </p:sp>
      <p:sp>
        <p:nvSpPr>
          <p:cNvPr id="40" name="Text 38"/>
          <p:cNvSpPr/>
          <p:nvPr/>
        </p:nvSpPr>
        <p:spPr>
          <a:xfrm>
            <a:off x="3310128" y="2907792"/>
            <a:ext cx="896112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手工测试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233672" y="3090672"/>
            <a:ext cx="146304" cy="0"/>
          </a:xfrm>
          <a:prstGeom prst="line">
            <a:avLst/>
          </a:prstGeom>
          <a:noFill/>
          <a:ln w="15875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4407408" y="2907792"/>
            <a:ext cx="896112" cy="365760"/>
          </a:xfrm>
          <a:prstGeom prst="roundRect">
            <a:avLst>
              <a:gd name="adj" fmla="val 20000"/>
            </a:avLst>
          </a:prstGeom>
          <a:solidFill>
            <a:srgbClr val="EAF3F7"/>
          </a:solidFill>
        </p:spPr>
      </p:sp>
      <p:sp>
        <p:nvSpPr>
          <p:cNvPr id="43" name="Text 41"/>
          <p:cNvSpPr/>
          <p:nvPr/>
        </p:nvSpPr>
        <p:spPr>
          <a:xfrm>
            <a:off x="4407408" y="2907792"/>
            <a:ext cx="896112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账号与内购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330952" y="3090672"/>
            <a:ext cx="146304" cy="0"/>
          </a:xfrm>
          <a:prstGeom prst="line">
            <a:avLst/>
          </a:prstGeom>
          <a:noFill/>
          <a:ln w="15875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504688" y="2907792"/>
            <a:ext cx="896112" cy="365760"/>
          </a:xfrm>
          <a:prstGeom prst="roundRect">
            <a:avLst>
              <a:gd name="adj" fmla="val 20000"/>
            </a:avLst>
          </a:prstGeom>
          <a:solidFill>
            <a:srgbClr val="EAF3F7"/>
          </a:solidFill>
        </p:spPr>
      </p:sp>
      <p:sp>
        <p:nvSpPr>
          <p:cNvPr id="46" name="Text 44"/>
          <p:cNvSpPr/>
          <p:nvPr/>
        </p:nvSpPr>
        <p:spPr>
          <a:xfrm>
            <a:off x="5504688" y="2907792"/>
            <a:ext cx="896112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u="sng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正式上架</a:t>
            </a:r>
            <a:endParaRPr lang="en-US" sz="950" b="1" u="sng" dirty="0">
              <a:solidFill>
                <a:srgbClr val="065A82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457200" y="3566160"/>
            <a:ext cx="1371600" cy="1005840"/>
          </a:xfrm>
          <a:prstGeom prst="roundRect">
            <a:avLst>
              <a:gd name="adj" fmla="val 9091"/>
            </a:avLst>
          </a:prstGeom>
          <a:solidFill>
            <a:srgbClr val="1C7293"/>
          </a:solidFill>
          <a:effectLst>
            <a:outerShdw blurRad="152400" dist="508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457200" y="3712464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kern="0" spc="100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阶段三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457200" y="407822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CADCF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10.07 – 10.12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011680" y="3566160"/>
            <a:ext cx="66751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212848" y="365760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上架后并行推进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394960" y="3657600"/>
            <a:ext cx="310896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根据第一批用户反馈发布新版本，并行推进推广与软著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212848" y="4041648"/>
            <a:ext cx="896112" cy="365760"/>
          </a:xfrm>
          <a:prstGeom prst="roundRect">
            <a:avLst>
              <a:gd name="adj" fmla="val 20000"/>
            </a:avLst>
          </a:prstGeom>
          <a:solidFill>
            <a:srgbClr val="EAF3F7"/>
          </a:solidFill>
        </p:spPr>
      </p:sp>
      <p:sp>
        <p:nvSpPr>
          <p:cNvPr id="54" name="Text 52"/>
          <p:cNvSpPr/>
          <p:nvPr/>
        </p:nvSpPr>
        <p:spPr>
          <a:xfrm>
            <a:off x="2212848" y="4041648"/>
            <a:ext cx="896112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v1.0.2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136392" y="4224528"/>
            <a:ext cx="146304" cy="0"/>
          </a:xfrm>
          <a:prstGeom prst="line">
            <a:avLst/>
          </a:prstGeom>
          <a:noFill/>
          <a:ln w="15875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3310128" y="4041648"/>
            <a:ext cx="896112" cy="365760"/>
          </a:xfrm>
          <a:prstGeom prst="roundRect">
            <a:avLst>
              <a:gd name="adj" fmla="val 20000"/>
            </a:avLst>
          </a:prstGeom>
          <a:solidFill>
            <a:srgbClr val="EAF3F7"/>
          </a:solidFill>
        </p:spPr>
      </p:sp>
      <p:sp>
        <p:nvSpPr>
          <p:cNvPr id="57" name="Text 55"/>
          <p:cNvSpPr/>
          <p:nvPr/>
        </p:nvSpPr>
        <p:spPr>
          <a:xfrm>
            <a:off x="3310128" y="4041648"/>
            <a:ext cx="896112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软著申请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233672" y="4224528"/>
            <a:ext cx="146304" cy="0"/>
          </a:xfrm>
          <a:prstGeom prst="line">
            <a:avLst/>
          </a:prstGeom>
          <a:noFill/>
          <a:ln w="15875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4407408" y="4041648"/>
            <a:ext cx="896112" cy="365760"/>
          </a:xfrm>
          <a:prstGeom prst="roundRect">
            <a:avLst>
              <a:gd name="adj" fmla="val 20000"/>
            </a:avLst>
          </a:prstGeom>
          <a:solidFill>
            <a:srgbClr val="EAF3F7"/>
          </a:solidFill>
        </p:spPr>
      </p:sp>
      <p:sp>
        <p:nvSpPr>
          <p:cNvPr id="60" name="Text 58"/>
          <p:cNvSpPr/>
          <p:nvPr/>
        </p:nvSpPr>
        <p:spPr>
          <a:xfrm>
            <a:off x="4407408" y="4041648"/>
            <a:ext cx="896112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推广投稿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457200" y="4846320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Coding 保姆级指引（iOS 移动应用）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7680960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15 / 19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0"/>
          <p:cNvGraphicFramePr/>
          <p:nvPr/>
        </p:nvGraphicFramePr>
        <p:xfrm>
          <a:off x="4709160" y="1481328"/>
          <a:ext cx="397764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" name="Text 0"/>
          <p:cNvSpPr/>
          <p:nvPr/>
        </p:nvSpPr>
        <p:spPr>
          <a:xfrm>
            <a:off x="457200" y="32918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05 · 量化分析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用数据说话：103 小时的协作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194767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0080" y="1472184"/>
            <a:ext cx="1581912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65A82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103 h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40080" y="1984248"/>
            <a:ext cx="158191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Cursor 协作总时长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40080" y="2258568"/>
            <a:ext cx="1581912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功能 69.6 · 上架 26.1 · 文档 5.2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578608" y="1325880"/>
            <a:ext cx="194767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761488" y="1472184"/>
            <a:ext cx="1581912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65A82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88 次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2761488" y="1984248"/>
            <a:ext cx="158191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功能审核确认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761488" y="2258568"/>
            <a:ext cx="1581912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方案列出并确认后才动手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57200" y="2871216"/>
            <a:ext cx="194767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40080" y="3017520"/>
            <a:ext cx="1581912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65A82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30.7%</a:t>
            </a:r>
            <a:endParaRPr lang="en-US" sz="2700" dirty="0"/>
          </a:p>
        </p:txBody>
      </p:sp>
      <p:sp>
        <p:nvSpPr>
          <p:cNvPr id="15" name="Text 12"/>
          <p:cNvSpPr/>
          <p:nvPr/>
        </p:nvSpPr>
        <p:spPr>
          <a:xfrm>
            <a:off x="640080" y="3529584"/>
            <a:ext cx="158191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返工率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0080" y="3803904"/>
            <a:ext cx="1581912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27 次返工 ÷ 88 次确认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578608" y="2871216"/>
            <a:ext cx="194767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2761488" y="3017520"/>
            <a:ext cx="1581912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65A82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24 个</a:t>
            </a:r>
            <a:endParaRPr lang="en-US" sz="2700" dirty="0"/>
          </a:p>
        </p:txBody>
      </p:sp>
      <p:sp>
        <p:nvSpPr>
          <p:cNvPr id="19" name="Text 16"/>
          <p:cNvSpPr/>
          <p:nvPr/>
        </p:nvSpPr>
        <p:spPr>
          <a:xfrm>
            <a:off x="2761488" y="3529584"/>
            <a:ext cx="1581912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bug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2761488" y="3803904"/>
            <a:ext cx="1581912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已实现行为与既定规则不符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709160" y="1207008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88 次功能审核确认的构成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57200" y="4315968"/>
            <a:ext cx="8229600" cy="402336"/>
          </a:xfrm>
          <a:prstGeom prst="roundRect">
            <a:avLst>
              <a:gd name="adj" fmla="val 22727"/>
            </a:avLst>
          </a:prstGeom>
          <a:solidFill>
            <a:srgbClr val="EAF3F7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85800" y="4315968"/>
            <a:ext cx="7772400" cy="40233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14 项功能中 9 项发生过返工——返工是 AI Coding 的常态，人的验收能力决定效率。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457200" y="4846320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Coding 保姆级指引（iOS 移动应用）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7680960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16 / 19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0"/>
          <p:cNvGraphicFramePr/>
          <p:nvPr/>
        </p:nvGraphicFramePr>
        <p:xfrm>
          <a:off x="457200" y="1325880"/>
          <a:ext cx="5440680" cy="3337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" name="Text 0"/>
          <p:cNvSpPr/>
          <p:nvPr/>
        </p:nvSpPr>
        <p:spPr>
          <a:xfrm>
            <a:off x="457200" y="32918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C729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06 · 量化分析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kern="0" spc="150" dirty="0">
                <a:solidFill>
                  <a:srgbClr val="21295C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功能开发工时分布（合计 69.6 小时）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172200" y="13258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373368" y="147218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解读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373368" y="1801368"/>
            <a:ext cx="2148840" cy="1691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录入页</a:t>
            </a:r>
            <a:r>
              <a:rPr lang="zh-CN" alt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开发耗时最多</a:t>
            </a:r>
            <a:r>
              <a:rPr 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：交互密度最高的页面最耗时</a:t>
            </a:r>
            <a:endParaRPr lang="en-US" sz="1000" dirty="0">
              <a:solidFill>
                <a:srgbClr val="1F2937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zh-CN" alt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查询</a:t>
            </a:r>
            <a:r>
              <a:rPr 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页</a:t>
            </a:r>
            <a:r>
              <a:rPr lang="zh-CN" alt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返工次数最多</a:t>
            </a:r>
            <a:r>
              <a:rPr 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：</a:t>
            </a:r>
            <a:r>
              <a:rPr lang="zh-CN" alt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查询逻辑越复杂越容易出错</a:t>
            </a:r>
            <a:endParaRPr lang="zh-CN" altLang="en-US" sz="1000" dirty="0">
              <a:solidFill>
                <a:srgbClr val="1F2937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  <a:sym typeface="+mn-ea"/>
            </a:endParaRPr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zh-CN" alt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设置页出现了唯一需要重写的恶性</a:t>
            </a:r>
            <a:r>
              <a:rPr lang="en-US" altLang="zh-CN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bug：</a:t>
            </a:r>
            <a:r>
              <a:rPr lang="zh-CN" alt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牵扯面越广牵扯程度越深的工作最容易出严重</a:t>
            </a:r>
            <a:r>
              <a:rPr lang="en-US" altLang="zh-CN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bug</a:t>
            </a:r>
            <a:endParaRPr lang="en-US" sz="100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兼容性占 10.5%：若从第一天写入 Rules，可省下这笔返工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172200" y="3767328"/>
            <a:ext cx="2514600" cy="896112"/>
          </a:xfrm>
          <a:prstGeom prst="roundRect">
            <a:avLst>
              <a:gd name="adj" fmla="val 10204"/>
            </a:avLst>
          </a:prstGeom>
          <a:solidFill>
            <a:srgbClr val="EAF3F7"/>
          </a:solidFill>
          <a:ln w="9525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65A82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355080" y="3877056"/>
            <a:ext cx="2148840" cy="6949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65A8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上架对话 26.1 小时、软著与推广文档 5.2 小时另计，三部分合计约 103 小时。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 Coding 保姆级指引（iOS 移动应用）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7680960" y="484632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17 / 19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827">
              <a:alpha val="65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822960" y="9144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E8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结语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7680960" cy="20116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2500" b="1" kern="0" spc="150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瓶颈在想法是否值得做，</a:t>
            </a:r>
            <a:endParaRPr lang="en-US" sz="2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2500" b="1" kern="0" spc="150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难点在协作是否有效，</a:t>
            </a:r>
            <a:endParaRPr lang="en-US" sz="2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2500" b="1" kern="0" spc="150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风险在隐私能否守住。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22960" y="374904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—— 与每一位想尝试 AI Coding 的人共勉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827">
              <a:alpha val="60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914400" y="1051560"/>
            <a:ext cx="7315200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3200" b="1" kern="0" spc="250" dirty="0">
                <a:solidFill>
                  <a:srgbClr val="FFFFFF"/>
                </a:solidFill>
                <a:latin typeface="Songti SC" panose="02010800040101010101" pitchFamily="34" charset="-122"/>
                <a:ea typeface="Songti SC" panose="02010800040101010101" pitchFamily="34" charset="-122"/>
                <a:cs typeface="Songti SC" panose="02010800040101010101" pitchFamily="34" charset="-120"/>
              </a:rPr>
              <a:t>谢谢观看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8745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9FD8E8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把目标说清楚，把验收做到位，剩下的交给 AI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737360" y="2606040"/>
            <a:ext cx="5669280" cy="1554480"/>
          </a:xfrm>
          <a:prstGeom prst="roundRect">
            <a:avLst>
              <a:gd name="adj" fmla="val 7059"/>
            </a:avLst>
          </a:prstGeom>
          <a:solidFill>
            <a:srgbClr val="1C7293">
              <a:alpha val="55000"/>
            </a:srgbClr>
          </a:solidFill>
          <a:ln w="9525">
            <a:solidFill>
              <a:srgbClr val="9FD8E8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03120" y="280720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20000"/>
          </a:bodyPr>
          <a:lstStyle/>
          <a:p>
            <a:pPr marL="0" indent="0">
              <a:spcAft>
                <a:spcPts val="9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邮箱：fingalyang@outlook.com</a:t>
            </a:r>
            <a:endParaRPr lang="en-US" sz="12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App Store：</a:t>
            </a:r>
            <a:r>
              <a:rPr lang="en-US" altLang="zh-CN" sz="1200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https://apps.apple.com/cn/app/</a:t>
            </a:r>
            <a:r>
              <a:rPr lang="zh-CN" altLang="en-US" sz="1200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份子钱银行/</a:t>
            </a:r>
            <a:r>
              <a:rPr lang="en-US" altLang="zh-CN" sz="1200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id6817363332</a:t>
            </a:r>
            <a:endParaRPr lang="en-US" altLang="zh-CN" sz="1200" dirty="0">
              <a:solidFill>
                <a:srgbClr val="FFFFF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  <a:p>
            <a:pPr marL="0" indent="0">
              <a:spcAft>
                <a:spcPts val="9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GitHub：</a:t>
            </a:r>
            <a:r>
              <a:rPr lang="en-US" altLang="zh-CN" sz="1200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https://github.com/xray1224/AI-Coding-Guide-IOS-APP</a:t>
            </a:r>
            <a:endParaRPr lang="en-US" altLang="zh-CN" sz="1200" dirty="0">
              <a:solidFill>
                <a:srgbClr val="FFFFFF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  <a:p>
            <a:pPr marL="0" indent="0">
              <a:spcAft>
                <a:spcPts val="9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Gitee：https://gitee.com/fingalyang/AI-Coding-Guide-IOS-APP</a:t>
            </a:r>
            <a:endParaRPr lang="en-US" altLang="zh-CN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44348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8FA3C8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感谢陈老师开发这门课程，感谢李老师、任老师的专业工作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3729</Words>
  <Application>WPS 演示</Application>
  <PresentationFormat>On-screen Show (16:9)</PresentationFormat>
  <Paragraphs>525</Paragraphs>
  <Slides>19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9" baseType="lpstr">
      <vt:lpstr>Arial</vt:lpstr>
      <vt:lpstr>宋体</vt:lpstr>
      <vt:lpstr>Wingdings</vt:lpstr>
      <vt:lpstr>PingFang SC</vt:lpstr>
      <vt:lpstr>PingFang SC</vt:lpstr>
      <vt:lpstr>Songti SC</vt:lpstr>
      <vt:lpstr>Songti SC</vt:lpstr>
      <vt:lpstr>Arial</vt:lpstr>
      <vt:lpstr>宋体</vt:lpstr>
      <vt:lpstr>汉仪书宋二KW</vt:lpstr>
      <vt:lpstr>宋体</vt:lpstr>
      <vt:lpstr>Calibri</vt:lpstr>
      <vt:lpstr>Helvetica Neue</vt:lpstr>
      <vt:lpstr>微软雅黑</vt:lpstr>
      <vt:lpstr>方正雅意黑 GB18030L2</vt:lpstr>
      <vt:lpstr>宋体</vt:lpstr>
      <vt:lpstr>Arial Unicode MS</vt:lpstr>
      <vt:lpstr>等线</vt:lpstr>
      <vt:lpstr>汉仪中等线KW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Coding 保姆级指引（iOS 移动应用）</dc:title>
  <dc:creator>fingalyang</dc:creator>
  <dc:subject>PptxGenJS Presentation</dc:subject>
  <cp:lastModifiedBy>Fingal</cp:lastModifiedBy>
  <cp:revision>7</cp:revision>
  <dcterms:created xsi:type="dcterms:W3CDTF">2026-10-22T01:32:57Z</dcterms:created>
  <dcterms:modified xsi:type="dcterms:W3CDTF">2026-10-22T01:32:57Z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2052-12.1.28496.28496</vt:lpwstr>
  </property>
  <property fmtid="{D5CDD505-2E9C-101B-9397-08002B2CF9AE}" pid="3" name="ICV">
    <vt:lpwstr>FBE8CBD51C5BADF7F534D36AA8CA09EF_42</vt:lpwstr>
  </property>
</Properties>
</file>